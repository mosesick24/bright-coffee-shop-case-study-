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6" r:id="rId3"/>
    <p:sldId id="257" r:id="rId4"/>
    <p:sldId id="259" r:id="rId5"/>
    <p:sldId id="260" r:id="rId6"/>
    <p:sldId id="261" r:id="rId7"/>
    <p:sldId id="262" r:id="rId8"/>
    <p:sldId id="263" r:id="rId9"/>
    <p:sldId id="264" r:id="rId10"/>
    <p:sldId id="265" r:id="rId11"/>
    <p:sldId id="266" r:id="rId12"/>
    <p:sldId id="267"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a:srgbClr val="3D271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BFC00B-5C91-464F-9DDA-1F1C2A594DCC}" v="31" dt="2026-10-12T17:18:12.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liah Mosesi" userId="ee22442b59469123" providerId="LiveId" clId="{143A7345-B335-457C-ABC0-D68280BD3EA8}"/>
    <pc:docChg chg="modSld">
      <pc:chgData name="Cyliah Mosesi" userId="ee22442b59469123" providerId="LiveId" clId="{143A7345-B335-457C-ABC0-D68280BD3EA8}" dt="2026-10-12T18:11:12.425" v="0" actId="14100"/>
      <pc:docMkLst>
        <pc:docMk/>
      </pc:docMkLst>
      <pc:sldChg chg="modSp mod">
        <pc:chgData name="Cyliah Mosesi" userId="ee22442b59469123" providerId="LiveId" clId="{143A7345-B335-457C-ABC0-D68280BD3EA8}" dt="2026-10-12T18:11:12.425" v="0" actId="14100"/>
        <pc:sldMkLst>
          <pc:docMk/>
          <pc:sldMk cId="0" sldId="260"/>
        </pc:sldMkLst>
        <pc:picChg chg="mod">
          <ac:chgData name="Cyliah Mosesi" userId="ee22442b59469123" providerId="LiveId" clId="{143A7345-B335-457C-ABC0-D68280BD3EA8}" dt="2026-10-12T18:11:12.425" v="0" actId="14100"/>
          <ac:picMkLst>
            <pc:docMk/>
            <pc:sldMk cId="0" sldId="260"/>
            <ac:picMk id="40" creationId="{E9BBEC44-EAC6-A902-0BD2-6F671933848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E9CE2-5F4E-4CD6-805F-B61705D04604}" type="datetimeFigureOut">
              <a:rPr lang="en-ZA" smtClean="0"/>
              <a:t>2026/10/12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253D7D-FF3A-4B16-BE57-3DEF84DC7A86}" type="slidenum">
              <a:rPr lang="en-ZA" smtClean="0"/>
              <a:t>‹#›</a:t>
            </a:fld>
            <a:endParaRPr lang="en-ZA"/>
          </a:p>
        </p:txBody>
      </p:sp>
    </p:spTree>
    <p:extLst>
      <p:ext uri="{BB962C8B-B14F-4D97-AF65-F5344CB8AC3E}">
        <p14:creationId xmlns:p14="http://schemas.microsoft.com/office/powerpoint/2010/main" val="3450668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DA253D7D-FF3A-4B16-BE57-3DEF84DC7A86}" type="slidenum">
              <a:rPr lang="en-ZA" smtClean="0"/>
              <a:t>12</a:t>
            </a:fld>
            <a:endParaRPr lang="en-ZA"/>
          </a:p>
        </p:txBody>
      </p:sp>
    </p:spTree>
    <p:extLst>
      <p:ext uri="{BB962C8B-B14F-4D97-AF65-F5344CB8AC3E}">
        <p14:creationId xmlns:p14="http://schemas.microsoft.com/office/powerpoint/2010/main" val="558581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3D6443D-7762-1973-2552-7E3F5A7D300A}"/>
              </a:ext>
            </a:extLst>
          </p:cNvPr>
          <p:cNvPicPr>
            <a:picLocks noChangeAspect="1"/>
          </p:cNvPicPr>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3459573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640080" y="1086896"/>
            <a:ext cx="6400800" cy="1908215"/>
          </a:xfrm>
          <a:prstGeom prst="rect">
            <a:avLst/>
          </a:prstGeom>
          <a:noFill/>
        </p:spPr>
        <p:txBody>
          <a:bodyPr wrap="square" anchor="ctr">
            <a:spAutoFit/>
          </a:bodyPr>
          <a:lstStyle/>
          <a:p>
            <a:pPr algn="l"/>
            <a:r>
              <a:rPr lang="en-ZA" sz="3200" b="1" dirty="0">
                <a:solidFill>
                  <a:srgbClr val="67432D"/>
                </a:solidFill>
                <a:latin typeface="Aptos"/>
              </a:rPr>
              <a:t>Introduction</a:t>
            </a:r>
          </a:p>
          <a:p>
            <a:pPr algn="l"/>
            <a:endParaRPr lang="en-ZA" sz="3200" b="1" dirty="0">
              <a:solidFill>
                <a:srgbClr val="67432D"/>
              </a:solidFill>
              <a:latin typeface="Apto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ZA" dirty="0">
                <a:solidFill>
                  <a:srgbClr val="993300"/>
                </a:solidFill>
                <a:latin typeface="Calibri"/>
              </a:rPr>
              <a:t>Bright Coffee Shop collects sales data from its daily transactions. This data helps the business understand customer purchasing pattern, product performance and revenue.</a:t>
            </a:r>
            <a:endParaRPr kumimoji="0" lang="en-ZA" sz="1800" b="0" i="0" u="none" strike="noStrike" kern="1200" cap="none" spc="0" normalizeH="0" baseline="0" noProof="0" dirty="0">
              <a:ln>
                <a:noFill/>
              </a:ln>
              <a:solidFill>
                <a:srgbClr val="993300"/>
              </a:solidFill>
              <a:effectLst/>
              <a:uLnTx/>
              <a:uFillTx/>
              <a:latin typeface="Calibri"/>
              <a:ea typeface="+mn-ea"/>
              <a:cs typeface="+mn-cs"/>
            </a:endParaRPr>
          </a:p>
        </p:txBody>
      </p:sp>
      <p:sp>
        <p:nvSpPr>
          <p:cNvPr id="10" name="TextBox 9"/>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1</a:t>
            </a:r>
          </a:p>
        </p:txBody>
      </p:sp>
      <p:sp>
        <p:nvSpPr>
          <p:cNvPr id="12" name="Oval 11"/>
          <p:cNvSpPr/>
          <p:nvPr/>
        </p:nvSpPr>
        <p:spPr>
          <a:xfrm rot="1500000">
            <a:off x="10405561" y="1392071"/>
            <a:ext cx="438912" cy="228600"/>
          </a:xfrm>
          <a:prstGeom prst="ellipse">
            <a:avLst/>
          </a:prstGeom>
          <a:solidFill>
            <a:srgbClr val="67432D"/>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20280000">
            <a:off x="10798091" y="1845912"/>
            <a:ext cx="524419" cy="211637"/>
          </a:xfrm>
          <a:prstGeom prst="ellipse">
            <a:avLst/>
          </a:prstGeom>
          <a:solidFill>
            <a:srgbClr val="B57E4C"/>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987551"/>
            <a:ext cx="11155680" cy="182879"/>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a:extLst>
              <a:ext uri="{FF2B5EF4-FFF2-40B4-BE49-F238E27FC236}">
                <a16:creationId xmlns:a16="http://schemas.microsoft.com/office/drawing/2014/main" id="{285F9E1E-CA1A-6DDF-0903-01CADD123CEA}"/>
              </a:ext>
            </a:extLst>
          </p:cNvPr>
          <p:cNvPicPr>
            <a:picLocks noChangeAspect="1"/>
          </p:cNvPicPr>
          <p:nvPr/>
        </p:nvPicPr>
        <p:blipFill>
          <a:blip r:embed="rId2"/>
          <a:stretch>
            <a:fillRect/>
          </a:stretch>
        </p:blipFill>
        <p:spPr>
          <a:xfrm>
            <a:off x="714282" y="3211552"/>
            <a:ext cx="5551608" cy="31938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807246" y="380588"/>
            <a:ext cx="3555140" cy="584775"/>
          </a:xfrm>
          <a:prstGeom prst="rect">
            <a:avLst/>
          </a:prstGeom>
          <a:noFill/>
        </p:spPr>
        <p:txBody>
          <a:bodyPr wrap="none" anchor="ctr">
            <a:spAutoFit/>
          </a:bodyPr>
          <a:lstStyle/>
          <a:p>
            <a:pPr algn="l"/>
            <a:r>
              <a:rPr sz="3200" b="1" dirty="0">
                <a:solidFill>
                  <a:schemeClr val="accent2">
                    <a:lumMod val="50000"/>
                  </a:schemeClr>
                </a:solidFill>
                <a:latin typeface="Aptos"/>
              </a:rPr>
              <a:t>Business </a:t>
            </a:r>
            <a:r>
              <a:rPr lang="en-ZA" sz="3200" b="1" dirty="0">
                <a:solidFill>
                  <a:schemeClr val="accent2">
                    <a:lumMod val="50000"/>
                  </a:schemeClr>
                </a:solidFill>
                <a:latin typeface="Aptos"/>
              </a:rPr>
              <a:t>Problem</a:t>
            </a:r>
            <a:endParaRPr sz="3200" b="1" dirty="0">
              <a:solidFill>
                <a:schemeClr val="accent2">
                  <a:lumMod val="50000"/>
                </a:schemeClr>
              </a:solidFill>
              <a:latin typeface="Aptos"/>
            </a:endParaRPr>
          </a:p>
        </p:txBody>
      </p:sp>
      <p:sp>
        <p:nvSpPr>
          <p:cNvPr id="5" name="Rounded Rectangle 4"/>
          <p:cNvSpPr/>
          <p:nvPr/>
        </p:nvSpPr>
        <p:spPr>
          <a:xfrm>
            <a:off x="625090" y="1758883"/>
            <a:ext cx="10881360" cy="137160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7873"/>
            <a:ext cx="10109562" cy="584775"/>
          </a:xfrm>
          <a:prstGeom prst="rect">
            <a:avLst/>
          </a:prstGeom>
          <a:noFill/>
        </p:spPr>
        <p:txBody>
          <a:bodyPr wrap="none" anchor="ctr">
            <a:spAutoFit/>
          </a:bodyPr>
          <a:lstStyle/>
          <a:p>
            <a:pPr algn="l"/>
            <a:r>
              <a:rPr sz="1600" b="0" dirty="0">
                <a:solidFill>
                  <a:srgbClr val="993300"/>
                </a:solidFill>
                <a:latin typeface="Aptos"/>
              </a:rPr>
              <a:t>Bright Coffee Shop wants to increase revenue and improve product performance. This analysis uses sales data to</a:t>
            </a:r>
            <a:endParaRPr lang="en-ZA" sz="1600" b="0" dirty="0">
              <a:solidFill>
                <a:srgbClr val="993300"/>
              </a:solidFill>
              <a:latin typeface="Aptos"/>
            </a:endParaRPr>
          </a:p>
          <a:p>
            <a:pPr algn="l"/>
            <a:r>
              <a:rPr sz="1600" b="0" dirty="0">
                <a:solidFill>
                  <a:srgbClr val="993300"/>
                </a:solidFill>
                <a:latin typeface="Aptos"/>
              </a:rPr>
              <a:t> identify patterns and opportunities for growth.</a:t>
            </a:r>
          </a:p>
        </p:txBody>
      </p:sp>
      <p:sp>
        <p:nvSpPr>
          <p:cNvPr id="8" name="Rounded Rectangle 7"/>
          <p:cNvSpPr/>
          <p:nvPr/>
        </p:nvSpPr>
        <p:spPr>
          <a:xfrm>
            <a:off x="640080" y="3615777"/>
            <a:ext cx="3337560" cy="1046164"/>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3273552"/>
            <a:ext cx="411480" cy="274320"/>
          </a:xfrm>
          <a:prstGeom prst="rect">
            <a:avLst/>
          </a:prstGeom>
          <a:noFill/>
        </p:spPr>
        <p:txBody>
          <a:bodyPr wrap="none" anchor="ctr">
            <a:spAutoFit/>
          </a:bodyPr>
          <a:lstStyle/>
          <a:p>
            <a:pPr algn="l"/>
            <a:r>
              <a:rPr sz="1100" b="1">
                <a:solidFill>
                  <a:srgbClr val="67432D"/>
                </a:solidFill>
                <a:latin typeface="Aptos"/>
              </a:rPr>
              <a:t>01</a:t>
            </a:r>
          </a:p>
        </p:txBody>
      </p:sp>
      <p:sp>
        <p:nvSpPr>
          <p:cNvPr id="10" name="TextBox 9"/>
          <p:cNvSpPr txBox="1"/>
          <p:nvPr/>
        </p:nvSpPr>
        <p:spPr>
          <a:xfrm>
            <a:off x="845820" y="3690940"/>
            <a:ext cx="2233560" cy="353943"/>
          </a:xfrm>
          <a:prstGeom prst="rect">
            <a:avLst/>
          </a:prstGeom>
          <a:noFill/>
        </p:spPr>
        <p:txBody>
          <a:bodyPr wrap="none" anchor="ctr">
            <a:spAutoFit/>
          </a:bodyPr>
          <a:lstStyle/>
          <a:p>
            <a:pPr algn="l"/>
            <a:r>
              <a:rPr sz="1700" b="1" dirty="0">
                <a:solidFill>
                  <a:srgbClr val="993300"/>
                </a:solidFill>
                <a:latin typeface="Aptos"/>
              </a:rPr>
              <a:t>Increase revenue</a:t>
            </a:r>
            <a:r>
              <a:rPr lang="en-ZA" sz="1700" b="1" dirty="0">
                <a:solidFill>
                  <a:srgbClr val="993300"/>
                </a:solidFill>
                <a:latin typeface="Aptos"/>
              </a:rPr>
              <a:t> 💸</a:t>
            </a:r>
            <a:endParaRPr sz="1700" b="1" dirty="0">
              <a:solidFill>
                <a:srgbClr val="993300"/>
              </a:solidFill>
              <a:latin typeface="Aptos"/>
            </a:endParaRPr>
          </a:p>
        </p:txBody>
      </p:sp>
      <p:sp>
        <p:nvSpPr>
          <p:cNvPr id="11" name="TextBox 10"/>
          <p:cNvSpPr txBox="1"/>
          <p:nvPr/>
        </p:nvSpPr>
        <p:spPr>
          <a:xfrm>
            <a:off x="868680" y="4187952"/>
            <a:ext cx="2912657" cy="307777"/>
          </a:xfrm>
          <a:prstGeom prst="rect">
            <a:avLst/>
          </a:prstGeom>
          <a:noFill/>
        </p:spPr>
        <p:txBody>
          <a:bodyPr wrap="none" anchor="t">
            <a:spAutoFit/>
          </a:bodyPr>
          <a:lstStyle/>
          <a:p>
            <a:pPr algn="l"/>
            <a:r>
              <a:rPr sz="1400" b="0" dirty="0">
                <a:solidFill>
                  <a:srgbClr val="993300"/>
                </a:solidFill>
                <a:latin typeface="Aptos"/>
              </a:rPr>
              <a:t>Identify where revenue is strongest.</a:t>
            </a:r>
          </a:p>
        </p:txBody>
      </p:sp>
      <p:sp>
        <p:nvSpPr>
          <p:cNvPr id="12" name="Rounded Rectangle 11"/>
          <p:cNvSpPr/>
          <p:nvPr/>
        </p:nvSpPr>
        <p:spPr>
          <a:xfrm>
            <a:off x="4427220" y="3607934"/>
            <a:ext cx="3337560" cy="105400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3273552"/>
            <a:ext cx="411480" cy="274320"/>
          </a:xfrm>
          <a:prstGeom prst="rect">
            <a:avLst/>
          </a:prstGeom>
          <a:noFill/>
        </p:spPr>
        <p:txBody>
          <a:bodyPr wrap="none" anchor="ctr">
            <a:spAutoFit/>
          </a:bodyPr>
          <a:lstStyle/>
          <a:p>
            <a:pPr algn="l"/>
            <a:r>
              <a:rPr sz="1100" b="1">
                <a:solidFill>
                  <a:srgbClr val="67432D"/>
                </a:solidFill>
                <a:latin typeface="Aptos"/>
              </a:rPr>
              <a:t>02</a:t>
            </a:r>
          </a:p>
        </p:txBody>
      </p:sp>
      <p:sp>
        <p:nvSpPr>
          <p:cNvPr id="14" name="TextBox 13"/>
          <p:cNvSpPr txBox="1"/>
          <p:nvPr/>
        </p:nvSpPr>
        <p:spPr>
          <a:xfrm>
            <a:off x="4572000" y="3709228"/>
            <a:ext cx="2276777" cy="353943"/>
          </a:xfrm>
          <a:prstGeom prst="rect">
            <a:avLst/>
          </a:prstGeom>
          <a:noFill/>
        </p:spPr>
        <p:txBody>
          <a:bodyPr wrap="none" anchor="ctr">
            <a:spAutoFit/>
          </a:bodyPr>
          <a:lstStyle/>
          <a:p>
            <a:pPr algn="l"/>
            <a:r>
              <a:rPr sz="1700" b="1" dirty="0">
                <a:solidFill>
                  <a:srgbClr val="993300"/>
                </a:solidFill>
                <a:latin typeface="Aptos"/>
              </a:rPr>
              <a:t>Improve products</a:t>
            </a:r>
            <a:r>
              <a:rPr lang="en-ZA" sz="1700" b="1" dirty="0">
                <a:solidFill>
                  <a:srgbClr val="993300"/>
                </a:solidFill>
                <a:latin typeface="Aptos"/>
              </a:rPr>
              <a:t> ☕</a:t>
            </a:r>
            <a:endParaRPr sz="1700" b="1" dirty="0">
              <a:solidFill>
                <a:srgbClr val="993300"/>
              </a:solidFill>
              <a:latin typeface="Aptos"/>
            </a:endParaRPr>
          </a:p>
        </p:txBody>
      </p:sp>
      <p:sp>
        <p:nvSpPr>
          <p:cNvPr id="15" name="TextBox 14"/>
          <p:cNvSpPr txBox="1"/>
          <p:nvPr/>
        </p:nvSpPr>
        <p:spPr>
          <a:xfrm>
            <a:off x="4572000" y="4187952"/>
            <a:ext cx="3341171" cy="276999"/>
          </a:xfrm>
          <a:prstGeom prst="rect">
            <a:avLst/>
          </a:prstGeom>
          <a:noFill/>
        </p:spPr>
        <p:txBody>
          <a:bodyPr wrap="none" anchor="t">
            <a:spAutoFit/>
          </a:bodyPr>
          <a:lstStyle/>
          <a:p>
            <a:pPr algn="l"/>
            <a:r>
              <a:rPr sz="1200" b="0" dirty="0">
                <a:solidFill>
                  <a:srgbClr val="993300"/>
                </a:solidFill>
                <a:latin typeface="Aptos"/>
              </a:rPr>
              <a:t>Understand high- and low-performing products.</a:t>
            </a:r>
          </a:p>
        </p:txBody>
      </p:sp>
      <p:sp>
        <p:nvSpPr>
          <p:cNvPr id="16" name="Rounded Rectangle 15"/>
          <p:cNvSpPr/>
          <p:nvPr/>
        </p:nvSpPr>
        <p:spPr>
          <a:xfrm>
            <a:off x="8214360" y="3604187"/>
            <a:ext cx="3337560" cy="105400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19" y="3273552"/>
            <a:ext cx="411480" cy="274320"/>
          </a:xfrm>
          <a:prstGeom prst="rect">
            <a:avLst/>
          </a:prstGeom>
          <a:noFill/>
        </p:spPr>
        <p:txBody>
          <a:bodyPr wrap="none" anchor="ctr">
            <a:spAutoFit/>
          </a:bodyPr>
          <a:lstStyle/>
          <a:p>
            <a:pPr algn="l"/>
            <a:r>
              <a:rPr sz="1100" b="1">
                <a:solidFill>
                  <a:srgbClr val="67432D"/>
                </a:solidFill>
                <a:latin typeface="Aptos"/>
              </a:rPr>
              <a:t>03</a:t>
            </a:r>
          </a:p>
        </p:txBody>
      </p:sp>
      <p:sp>
        <p:nvSpPr>
          <p:cNvPr id="18" name="TextBox 17"/>
          <p:cNvSpPr txBox="1"/>
          <p:nvPr/>
        </p:nvSpPr>
        <p:spPr>
          <a:xfrm>
            <a:off x="8275319" y="3709228"/>
            <a:ext cx="2256323" cy="353943"/>
          </a:xfrm>
          <a:prstGeom prst="rect">
            <a:avLst/>
          </a:prstGeom>
          <a:noFill/>
        </p:spPr>
        <p:txBody>
          <a:bodyPr wrap="none" anchor="ctr">
            <a:spAutoFit/>
          </a:bodyPr>
          <a:lstStyle/>
          <a:p>
            <a:r>
              <a:rPr sz="1700" b="1" dirty="0">
                <a:solidFill>
                  <a:srgbClr val="993300"/>
                </a:solidFill>
                <a:latin typeface="Aptos"/>
              </a:rPr>
              <a:t>Understand sales</a:t>
            </a:r>
            <a:r>
              <a:rPr lang="en-ZA" sz="1700" b="1" dirty="0">
                <a:solidFill>
                  <a:srgbClr val="993300"/>
                </a:solidFill>
                <a:latin typeface="Aptos"/>
              </a:rPr>
              <a:t> </a:t>
            </a:r>
            <a:r>
              <a:rPr lang="en-ZA" sz="1600" dirty="0"/>
              <a:t>📊</a:t>
            </a:r>
            <a:endParaRPr sz="1700" b="1" dirty="0">
              <a:solidFill>
                <a:srgbClr val="993300"/>
              </a:solidFill>
              <a:latin typeface="Aptos"/>
            </a:endParaRPr>
          </a:p>
        </p:txBody>
      </p:sp>
      <p:sp>
        <p:nvSpPr>
          <p:cNvPr id="19" name="TextBox 18"/>
          <p:cNvSpPr txBox="1"/>
          <p:nvPr/>
        </p:nvSpPr>
        <p:spPr>
          <a:xfrm>
            <a:off x="8275319" y="4187952"/>
            <a:ext cx="2469907" cy="307777"/>
          </a:xfrm>
          <a:prstGeom prst="rect">
            <a:avLst/>
          </a:prstGeom>
          <a:noFill/>
        </p:spPr>
        <p:txBody>
          <a:bodyPr wrap="none" anchor="t">
            <a:spAutoFit/>
          </a:bodyPr>
          <a:lstStyle/>
          <a:p>
            <a:pPr algn="l"/>
            <a:r>
              <a:rPr sz="1400" b="0" dirty="0">
                <a:solidFill>
                  <a:srgbClr val="993300"/>
                </a:solidFill>
                <a:latin typeface="Aptos"/>
              </a:rPr>
              <a:t>Identify useful sales patterns.</a:t>
            </a:r>
          </a:p>
        </p:txBody>
      </p:sp>
      <p:sp>
        <p:nvSpPr>
          <p:cNvPr id="21" name="TextBox 20"/>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2</a:t>
            </a:r>
          </a:p>
        </p:txBody>
      </p:sp>
      <p:sp>
        <p:nvSpPr>
          <p:cNvPr id="22" name="Rectangle 21"/>
          <p:cNvSpPr/>
          <p:nvPr/>
        </p:nvSpPr>
        <p:spPr>
          <a:xfrm flipV="1">
            <a:off x="640080" y="1001427"/>
            <a:ext cx="11155680" cy="14331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rot="1200000">
            <a:off x="11051752" y="6209821"/>
            <a:ext cx="451525" cy="242124"/>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18450"/>
            <a:ext cx="3479927" cy="523220"/>
          </a:xfrm>
          <a:prstGeom prst="rect">
            <a:avLst/>
          </a:prstGeom>
          <a:noFill/>
        </p:spPr>
        <p:txBody>
          <a:bodyPr wrap="none" anchor="ctr">
            <a:spAutoFit/>
          </a:bodyPr>
          <a:lstStyle/>
          <a:p>
            <a:pPr algn="l"/>
            <a:r>
              <a:rPr sz="2800" b="1" dirty="0">
                <a:solidFill>
                  <a:srgbClr val="993300"/>
                </a:solidFill>
                <a:latin typeface="Aptos"/>
              </a:rPr>
              <a:t>Data &amp; Methodology</a:t>
            </a:r>
          </a:p>
        </p:txBody>
      </p:sp>
      <p:sp>
        <p:nvSpPr>
          <p:cNvPr id="5" name="Rounded Rectangle 4"/>
          <p:cNvSpPr/>
          <p:nvPr/>
        </p:nvSpPr>
        <p:spPr>
          <a:xfrm>
            <a:off x="416813" y="2308484"/>
            <a:ext cx="2229614" cy="1554855"/>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520508"/>
            <a:ext cx="1543884" cy="353943"/>
          </a:xfrm>
          <a:prstGeom prst="rect">
            <a:avLst/>
          </a:prstGeom>
          <a:noFill/>
        </p:spPr>
        <p:txBody>
          <a:bodyPr wrap="none" anchor="ctr">
            <a:spAutoFit/>
          </a:bodyPr>
          <a:lstStyle/>
          <a:p>
            <a:pPr algn="l"/>
            <a:r>
              <a:rPr sz="1700" b="1" dirty="0">
                <a:solidFill>
                  <a:srgbClr val="993300"/>
                </a:solidFill>
                <a:latin typeface="Aptos"/>
              </a:rPr>
              <a:t>Excel Dataset</a:t>
            </a:r>
          </a:p>
        </p:txBody>
      </p:sp>
      <p:sp>
        <p:nvSpPr>
          <p:cNvPr id="8" name="TextBox 7"/>
          <p:cNvSpPr txBox="1"/>
          <p:nvPr/>
        </p:nvSpPr>
        <p:spPr>
          <a:xfrm>
            <a:off x="416813" y="3108960"/>
            <a:ext cx="2535761" cy="276999"/>
          </a:xfrm>
          <a:prstGeom prst="rect">
            <a:avLst/>
          </a:prstGeom>
          <a:noFill/>
        </p:spPr>
        <p:txBody>
          <a:bodyPr wrap="square" anchor="t">
            <a:spAutoFit/>
          </a:bodyPr>
          <a:lstStyle/>
          <a:p>
            <a:pPr algn="l"/>
            <a:r>
              <a:rPr sz="1200" b="0" dirty="0">
                <a:solidFill>
                  <a:srgbClr val="705B4A"/>
                </a:solidFill>
                <a:latin typeface="Aptos"/>
              </a:rPr>
              <a:t>Daily transactional coffee sales</a:t>
            </a:r>
          </a:p>
        </p:txBody>
      </p:sp>
      <p:sp>
        <p:nvSpPr>
          <p:cNvPr id="9" name="TextBox 8"/>
          <p:cNvSpPr txBox="1"/>
          <p:nvPr/>
        </p:nvSpPr>
        <p:spPr>
          <a:xfrm>
            <a:off x="2587752" y="2743200"/>
            <a:ext cx="320040" cy="365760"/>
          </a:xfrm>
          <a:prstGeom prst="rect">
            <a:avLst/>
          </a:prstGeom>
          <a:noFill/>
        </p:spPr>
        <p:txBody>
          <a:bodyPr wrap="none" anchor="ctr">
            <a:spAutoFit/>
          </a:bodyPr>
          <a:lstStyle/>
          <a:p>
            <a:pPr algn="ctr"/>
            <a:r>
              <a:rPr sz="1800" b="1">
                <a:solidFill>
                  <a:srgbClr val="67432D"/>
                </a:solidFill>
                <a:latin typeface="Aptos"/>
              </a:rPr>
              <a:t>→</a:t>
            </a:r>
          </a:p>
        </p:txBody>
      </p:sp>
      <p:sp>
        <p:nvSpPr>
          <p:cNvPr id="10" name="Rounded Rectangle 9"/>
          <p:cNvSpPr/>
          <p:nvPr/>
        </p:nvSpPr>
        <p:spPr>
          <a:xfrm>
            <a:off x="2970436" y="2308484"/>
            <a:ext cx="1976624" cy="1577716"/>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7520" y="2520508"/>
            <a:ext cx="1266565" cy="353943"/>
          </a:xfrm>
          <a:prstGeom prst="rect">
            <a:avLst/>
          </a:prstGeom>
          <a:noFill/>
        </p:spPr>
        <p:txBody>
          <a:bodyPr wrap="none" anchor="ctr">
            <a:spAutoFit/>
          </a:bodyPr>
          <a:lstStyle/>
          <a:p>
            <a:pPr algn="l"/>
            <a:r>
              <a:rPr sz="1700" b="1" dirty="0">
                <a:solidFill>
                  <a:srgbClr val="993300"/>
                </a:solidFill>
                <a:latin typeface="Aptos"/>
              </a:rPr>
              <a:t>Databricks</a:t>
            </a:r>
          </a:p>
        </p:txBody>
      </p:sp>
      <p:sp>
        <p:nvSpPr>
          <p:cNvPr id="13" name="TextBox 12"/>
          <p:cNvSpPr txBox="1"/>
          <p:nvPr/>
        </p:nvSpPr>
        <p:spPr>
          <a:xfrm>
            <a:off x="3017520" y="3108960"/>
            <a:ext cx="2072490" cy="276999"/>
          </a:xfrm>
          <a:prstGeom prst="rect">
            <a:avLst/>
          </a:prstGeom>
          <a:noFill/>
        </p:spPr>
        <p:txBody>
          <a:bodyPr wrap="none" anchor="t">
            <a:spAutoFit/>
          </a:bodyPr>
          <a:lstStyle/>
          <a:p>
            <a:pPr algn="l"/>
            <a:r>
              <a:rPr sz="1200" b="0" dirty="0">
                <a:solidFill>
                  <a:srgbClr val="705B4A"/>
                </a:solidFill>
                <a:latin typeface="Aptos"/>
              </a:rPr>
              <a:t>Load, inspect and store data</a:t>
            </a:r>
          </a:p>
        </p:txBody>
      </p:sp>
      <p:sp>
        <p:nvSpPr>
          <p:cNvPr id="14" name="TextBox 13"/>
          <p:cNvSpPr txBox="1"/>
          <p:nvPr/>
        </p:nvSpPr>
        <p:spPr>
          <a:xfrm>
            <a:off x="4919471" y="2743200"/>
            <a:ext cx="320040" cy="365760"/>
          </a:xfrm>
          <a:prstGeom prst="rect">
            <a:avLst/>
          </a:prstGeom>
          <a:noFill/>
        </p:spPr>
        <p:txBody>
          <a:bodyPr wrap="none" anchor="ctr">
            <a:spAutoFit/>
          </a:bodyPr>
          <a:lstStyle/>
          <a:p>
            <a:pPr algn="ctr"/>
            <a:r>
              <a:rPr sz="1800" b="1">
                <a:solidFill>
                  <a:srgbClr val="67432D"/>
                </a:solidFill>
                <a:latin typeface="Aptos"/>
              </a:rPr>
              <a:t>→</a:t>
            </a:r>
          </a:p>
        </p:txBody>
      </p:sp>
      <p:sp>
        <p:nvSpPr>
          <p:cNvPr id="15" name="Rounded Rectangle 14"/>
          <p:cNvSpPr/>
          <p:nvPr/>
        </p:nvSpPr>
        <p:spPr>
          <a:xfrm>
            <a:off x="5344668" y="2308484"/>
            <a:ext cx="1901952" cy="157771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49240" y="2520508"/>
            <a:ext cx="587020" cy="353943"/>
          </a:xfrm>
          <a:prstGeom prst="rect">
            <a:avLst/>
          </a:prstGeom>
          <a:noFill/>
        </p:spPr>
        <p:txBody>
          <a:bodyPr wrap="none" anchor="ctr">
            <a:spAutoFit/>
          </a:bodyPr>
          <a:lstStyle/>
          <a:p>
            <a:pPr algn="l"/>
            <a:r>
              <a:rPr lang="en-ZA" sz="1700" b="1" dirty="0">
                <a:solidFill>
                  <a:srgbClr val="993300"/>
                </a:solidFill>
                <a:latin typeface="Aptos"/>
              </a:rPr>
              <a:t>SQL</a:t>
            </a:r>
            <a:endParaRPr sz="1700" b="1" dirty="0">
              <a:solidFill>
                <a:srgbClr val="993300"/>
              </a:solidFill>
              <a:latin typeface="Aptos"/>
            </a:endParaRPr>
          </a:p>
        </p:txBody>
      </p:sp>
      <p:sp>
        <p:nvSpPr>
          <p:cNvPr id="18" name="TextBox 17"/>
          <p:cNvSpPr txBox="1"/>
          <p:nvPr/>
        </p:nvSpPr>
        <p:spPr>
          <a:xfrm>
            <a:off x="5349240" y="3108960"/>
            <a:ext cx="2241447" cy="276999"/>
          </a:xfrm>
          <a:prstGeom prst="rect">
            <a:avLst/>
          </a:prstGeom>
          <a:noFill/>
        </p:spPr>
        <p:txBody>
          <a:bodyPr wrap="none" anchor="t">
            <a:spAutoFit/>
          </a:bodyPr>
          <a:lstStyle/>
          <a:p>
            <a:pPr algn="l"/>
            <a:r>
              <a:rPr sz="1200" b="0" dirty="0">
                <a:solidFill>
                  <a:srgbClr val="705B4A"/>
                </a:solidFill>
                <a:latin typeface="Aptos"/>
              </a:rPr>
              <a:t>Clean, transform and calculate</a:t>
            </a:r>
          </a:p>
        </p:txBody>
      </p:sp>
      <p:sp>
        <p:nvSpPr>
          <p:cNvPr id="19" name="TextBox 18"/>
          <p:cNvSpPr txBox="1"/>
          <p:nvPr/>
        </p:nvSpPr>
        <p:spPr>
          <a:xfrm>
            <a:off x="7251192" y="2743200"/>
            <a:ext cx="320040" cy="365760"/>
          </a:xfrm>
          <a:prstGeom prst="rect">
            <a:avLst/>
          </a:prstGeom>
          <a:noFill/>
        </p:spPr>
        <p:txBody>
          <a:bodyPr wrap="none" anchor="ctr">
            <a:spAutoFit/>
          </a:bodyPr>
          <a:lstStyle/>
          <a:p>
            <a:pPr algn="ctr"/>
            <a:r>
              <a:rPr sz="1800" b="1">
                <a:solidFill>
                  <a:srgbClr val="67432D"/>
                </a:solidFill>
                <a:latin typeface="Aptos"/>
              </a:rPr>
              <a:t>→</a:t>
            </a:r>
          </a:p>
        </p:txBody>
      </p:sp>
      <p:sp>
        <p:nvSpPr>
          <p:cNvPr id="20" name="Rounded Rectangle 19"/>
          <p:cNvSpPr/>
          <p:nvPr/>
        </p:nvSpPr>
        <p:spPr>
          <a:xfrm>
            <a:off x="7781542" y="2308484"/>
            <a:ext cx="1792224" cy="1577717"/>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7680959" y="2520508"/>
            <a:ext cx="1706557" cy="353943"/>
          </a:xfrm>
          <a:prstGeom prst="rect">
            <a:avLst/>
          </a:prstGeom>
          <a:noFill/>
        </p:spPr>
        <p:txBody>
          <a:bodyPr wrap="none" anchor="ctr">
            <a:spAutoFit/>
          </a:bodyPr>
          <a:lstStyle/>
          <a:p>
            <a:pPr algn="l"/>
            <a:r>
              <a:rPr sz="1700" b="1" dirty="0">
                <a:solidFill>
                  <a:srgbClr val="993300"/>
                </a:solidFill>
                <a:latin typeface="Aptos"/>
              </a:rPr>
              <a:t>Power BI</a:t>
            </a:r>
            <a:r>
              <a:rPr lang="en-ZA" sz="1700" b="1" dirty="0">
                <a:solidFill>
                  <a:srgbClr val="993300"/>
                </a:solidFill>
                <a:latin typeface="Aptos"/>
              </a:rPr>
              <a:t>/Excel </a:t>
            </a:r>
            <a:endParaRPr sz="1700" b="1" dirty="0">
              <a:solidFill>
                <a:srgbClr val="993300"/>
              </a:solidFill>
              <a:latin typeface="Aptos"/>
            </a:endParaRPr>
          </a:p>
        </p:txBody>
      </p:sp>
      <p:sp>
        <p:nvSpPr>
          <p:cNvPr id="23" name="TextBox 22"/>
          <p:cNvSpPr txBox="1"/>
          <p:nvPr/>
        </p:nvSpPr>
        <p:spPr>
          <a:xfrm>
            <a:off x="7680959" y="3108960"/>
            <a:ext cx="1589089" cy="276999"/>
          </a:xfrm>
          <a:prstGeom prst="rect">
            <a:avLst/>
          </a:prstGeom>
          <a:noFill/>
        </p:spPr>
        <p:txBody>
          <a:bodyPr wrap="none" anchor="t">
            <a:spAutoFit/>
          </a:bodyPr>
          <a:lstStyle/>
          <a:p>
            <a:pPr algn="l"/>
            <a:r>
              <a:rPr sz="1200" b="0" dirty="0">
                <a:solidFill>
                  <a:srgbClr val="705B4A"/>
                </a:solidFill>
                <a:latin typeface="Aptos"/>
              </a:rPr>
              <a:t>Analy</a:t>
            </a:r>
            <a:r>
              <a:rPr lang="en-ZA" sz="1200" b="0" dirty="0">
                <a:solidFill>
                  <a:srgbClr val="705B4A"/>
                </a:solidFill>
                <a:latin typeface="Aptos"/>
              </a:rPr>
              <a:t>z</a:t>
            </a:r>
            <a:r>
              <a:rPr sz="1200" b="0" dirty="0">
                <a:solidFill>
                  <a:srgbClr val="705B4A"/>
                </a:solidFill>
                <a:latin typeface="Aptos"/>
              </a:rPr>
              <a:t>e and visualize</a:t>
            </a:r>
          </a:p>
        </p:txBody>
      </p:sp>
      <p:sp>
        <p:nvSpPr>
          <p:cNvPr id="24" name="TextBox 23"/>
          <p:cNvSpPr txBox="1"/>
          <p:nvPr/>
        </p:nvSpPr>
        <p:spPr>
          <a:xfrm>
            <a:off x="9582911" y="2743200"/>
            <a:ext cx="320040" cy="365760"/>
          </a:xfrm>
          <a:prstGeom prst="rect">
            <a:avLst/>
          </a:prstGeom>
          <a:noFill/>
        </p:spPr>
        <p:txBody>
          <a:bodyPr wrap="none" anchor="ctr">
            <a:spAutoFit/>
          </a:bodyPr>
          <a:lstStyle/>
          <a:p>
            <a:pPr algn="ctr"/>
            <a:r>
              <a:rPr sz="1800" b="1" dirty="0">
                <a:solidFill>
                  <a:srgbClr val="67432D"/>
                </a:solidFill>
                <a:latin typeface="Aptos"/>
              </a:rPr>
              <a:t>→</a:t>
            </a:r>
          </a:p>
        </p:txBody>
      </p:sp>
      <p:sp>
        <p:nvSpPr>
          <p:cNvPr id="25" name="Rounded Rectangle 24"/>
          <p:cNvSpPr/>
          <p:nvPr/>
        </p:nvSpPr>
        <p:spPr>
          <a:xfrm>
            <a:off x="10108688" y="2308484"/>
            <a:ext cx="2083312" cy="1470473"/>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12680" y="2520508"/>
            <a:ext cx="2206245" cy="353943"/>
          </a:xfrm>
          <a:prstGeom prst="rect">
            <a:avLst/>
          </a:prstGeom>
          <a:noFill/>
        </p:spPr>
        <p:txBody>
          <a:bodyPr wrap="none" anchor="ctr">
            <a:spAutoFit/>
          </a:bodyPr>
          <a:lstStyle/>
          <a:p>
            <a:pPr algn="l"/>
            <a:r>
              <a:rPr lang="en-ZA" sz="1700" b="1" dirty="0">
                <a:solidFill>
                  <a:srgbClr val="3D271C"/>
                </a:solidFill>
                <a:latin typeface="Aptos"/>
              </a:rPr>
              <a:t>   </a:t>
            </a:r>
            <a:r>
              <a:rPr sz="1700" b="1" dirty="0">
                <a:solidFill>
                  <a:srgbClr val="993300"/>
                </a:solidFill>
                <a:latin typeface="Aptos"/>
              </a:rPr>
              <a:t>Recommendations</a:t>
            </a:r>
          </a:p>
        </p:txBody>
      </p:sp>
      <p:sp>
        <p:nvSpPr>
          <p:cNvPr id="28" name="TextBox 27"/>
          <p:cNvSpPr txBox="1"/>
          <p:nvPr/>
        </p:nvSpPr>
        <p:spPr>
          <a:xfrm>
            <a:off x="10012680" y="3108960"/>
            <a:ext cx="2073260" cy="276999"/>
          </a:xfrm>
          <a:prstGeom prst="rect">
            <a:avLst/>
          </a:prstGeom>
          <a:noFill/>
        </p:spPr>
        <p:txBody>
          <a:bodyPr wrap="none" anchor="t">
            <a:spAutoFit/>
          </a:bodyPr>
          <a:lstStyle/>
          <a:p>
            <a:pPr algn="l"/>
            <a:r>
              <a:rPr lang="en-ZA" sz="1200" b="0" dirty="0">
                <a:solidFill>
                  <a:srgbClr val="705B4A"/>
                </a:solidFill>
                <a:latin typeface="Aptos"/>
              </a:rPr>
              <a:t>       </a:t>
            </a:r>
            <a:r>
              <a:rPr sz="1200" b="0" dirty="0">
                <a:solidFill>
                  <a:srgbClr val="705B4A"/>
                </a:solidFill>
                <a:latin typeface="Aptos"/>
              </a:rPr>
              <a:t>Turn findings into actions</a:t>
            </a:r>
          </a:p>
        </p:txBody>
      </p:sp>
      <p:sp>
        <p:nvSpPr>
          <p:cNvPr id="31" name="TextBox 30"/>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4</a:t>
            </a:r>
          </a:p>
        </p:txBody>
      </p:sp>
      <p:sp>
        <p:nvSpPr>
          <p:cNvPr id="33" name="Oval 32"/>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a:extLst>
              <a:ext uri="{FF2B5EF4-FFF2-40B4-BE49-F238E27FC236}">
                <a16:creationId xmlns:a16="http://schemas.microsoft.com/office/drawing/2014/main" id="{AFF18ACE-A335-2133-EB97-205D35C1AEDB}"/>
              </a:ext>
            </a:extLst>
          </p:cNvPr>
          <p:cNvPicPr>
            <a:picLocks noChangeAspect="1"/>
          </p:cNvPicPr>
          <p:nvPr/>
        </p:nvPicPr>
        <p:blipFill>
          <a:blip r:embed="rId2"/>
          <a:stretch>
            <a:fillRect/>
          </a:stretch>
        </p:blipFill>
        <p:spPr>
          <a:xfrm>
            <a:off x="233722" y="1258067"/>
            <a:ext cx="11241998" cy="3539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Overall Sales Performance</a:t>
            </a:r>
          </a:p>
        </p:txBody>
      </p:sp>
      <p:sp>
        <p:nvSpPr>
          <p:cNvPr id="5" name="Rounded Rectangle 4"/>
          <p:cNvSpPr/>
          <p:nvPr/>
        </p:nvSpPr>
        <p:spPr>
          <a:xfrm>
            <a:off x="594360" y="1325880"/>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777240" y="1534853"/>
            <a:ext cx="1322285" cy="276999"/>
          </a:xfrm>
          <a:prstGeom prst="rect">
            <a:avLst/>
          </a:prstGeom>
          <a:noFill/>
        </p:spPr>
        <p:txBody>
          <a:bodyPr wrap="none" anchor="ctr">
            <a:spAutoFit/>
          </a:bodyPr>
          <a:lstStyle/>
          <a:p>
            <a:pPr algn="l"/>
            <a:r>
              <a:rPr sz="1200" b="1" dirty="0">
                <a:solidFill>
                  <a:srgbClr val="705B4A"/>
                </a:solidFill>
                <a:latin typeface="Aptos"/>
              </a:rPr>
              <a:t>TOTAL REVENUE</a:t>
            </a:r>
          </a:p>
        </p:txBody>
      </p:sp>
      <p:sp>
        <p:nvSpPr>
          <p:cNvPr id="7" name="TextBox 6"/>
          <p:cNvSpPr txBox="1"/>
          <p:nvPr/>
        </p:nvSpPr>
        <p:spPr>
          <a:xfrm>
            <a:off x="777240" y="1914885"/>
            <a:ext cx="1922321" cy="477054"/>
          </a:xfrm>
          <a:prstGeom prst="rect">
            <a:avLst/>
          </a:prstGeom>
          <a:noFill/>
        </p:spPr>
        <p:txBody>
          <a:bodyPr wrap="none" anchor="ctr">
            <a:spAutoFit/>
          </a:bodyPr>
          <a:lstStyle/>
          <a:p>
            <a:pPr algn="l"/>
            <a:r>
              <a:rPr lang="en-ZA" sz="2500" b="1" dirty="0">
                <a:solidFill>
                  <a:srgbClr val="67432D"/>
                </a:solidFill>
                <a:latin typeface="Aptos"/>
              </a:rPr>
              <a:t>R698 812.33</a:t>
            </a:r>
            <a:endParaRPr sz="2500" b="1" dirty="0">
              <a:solidFill>
                <a:srgbClr val="67432D"/>
              </a:solidFill>
              <a:latin typeface="Aptos"/>
            </a:endParaRPr>
          </a:p>
        </p:txBody>
      </p:sp>
      <p:sp>
        <p:nvSpPr>
          <p:cNvPr id="8" name="Rounded Rectangle 7"/>
          <p:cNvSpPr/>
          <p:nvPr/>
        </p:nvSpPr>
        <p:spPr>
          <a:xfrm>
            <a:off x="3447288" y="1325880"/>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30168" y="1534853"/>
            <a:ext cx="1504066" cy="276999"/>
          </a:xfrm>
          <a:prstGeom prst="rect">
            <a:avLst/>
          </a:prstGeom>
          <a:noFill/>
        </p:spPr>
        <p:txBody>
          <a:bodyPr wrap="none" anchor="ctr">
            <a:spAutoFit/>
          </a:bodyPr>
          <a:lstStyle/>
          <a:p>
            <a:pPr algn="l"/>
            <a:r>
              <a:rPr sz="1200" b="1" dirty="0">
                <a:solidFill>
                  <a:srgbClr val="705B4A"/>
                </a:solidFill>
                <a:latin typeface="Aptos"/>
              </a:rPr>
              <a:t>TOTAL UNITS SOLD</a:t>
            </a:r>
          </a:p>
        </p:txBody>
      </p:sp>
      <p:sp>
        <p:nvSpPr>
          <p:cNvPr id="10" name="TextBox 9"/>
          <p:cNvSpPr txBox="1"/>
          <p:nvPr/>
        </p:nvSpPr>
        <p:spPr>
          <a:xfrm>
            <a:off x="3630168" y="1914885"/>
            <a:ext cx="1279517" cy="477054"/>
          </a:xfrm>
          <a:prstGeom prst="rect">
            <a:avLst/>
          </a:prstGeom>
          <a:noFill/>
        </p:spPr>
        <p:txBody>
          <a:bodyPr wrap="none" anchor="ctr">
            <a:spAutoFit/>
          </a:bodyPr>
          <a:lstStyle/>
          <a:p>
            <a:pPr algn="l"/>
            <a:r>
              <a:rPr lang="en-ZA" sz="2500" b="1" dirty="0">
                <a:solidFill>
                  <a:srgbClr val="67432D"/>
                </a:solidFill>
                <a:latin typeface="Aptos"/>
              </a:rPr>
              <a:t>214 470</a:t>
            </a:r>
            <a:endParaRPr sz="2500" b="1" dirty="0">
              <a:solidFill>
                <a:srgbClr val="67432D"/>
              </a:solidFill>
              <a:latin typeface="Aptos"/>
            </a:endParaRPr>
          </a:p>
        </p:txBody>
      </p:sp>
      <p:sp>
        <p:nvSpPr>
          <p:cNvPr id="14" name="Rounded Rectangle 13"/>
          <p:cNvSpPr/>
          <p:nvPr/>
        </p:nvSpPr>
        <p:spPr>
          <a:xfrm>
            <a:off x="9083042" y="1289304"/>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36024" y="1534853"/>
            <a:ext cx="1626086" cy="276999"/>
          </a:xfrm>
          <a:prstGeom prst="rect">
            <a:avLst/>
          </a:prstGeom>
          <a:noFill/>
        </p:spPr>
        <p:txBody>
          <a:bodyPr wrap="none" anchor="ctr">
            <a:spAutoFit/>
          </a:bodyPr>
          <a:lstStyle/>
          <a:p>
            <a:pPr algn="l"/>
            <a:r>
              <a:rPr sz="1200" b="1" dirty="0">
                <a:solidFill>
                  <a:srgbClr val="705B4A"/>
                </a:solidFill>
                <a:latin typeface="Aptos"/>
              </a:rPr>
              <a:t>NUMBER OF STORES</a:t>
            </a:r>
          </a:p>
        </p:txBody>
      </p:sp>
      <p:sp>
        <p:nvSpPr>
          <p:cNvPr id="16" name="TextBox 15"/>
          <p:cNvSpPr txBox="1"/>
          <p:nvPr/>
        </p:nvSpPr>
        <p:spPr>
          <a:xfrm>
            <a:off x="9336024" y="1914885"/>
            <a:ext cx="356188" cy="477054"/>
          </a:xfrm>
          <a:prstGeom prst="rect">
            <a:avLst/>
          </a:prstGeom>
          <a:noFill/>
        </p:spPr>
        <p:txBody>
          <a:bodyPr wrap="none" anchor="ctr">
            <a:spAutoFit/>
          </a:bodyPr>
          <a:lstStyle/>
          <a:p>
            <a:pPr algn="l"/>
            <a:r>
              <a:rPr lang="en-ZA" sz="2500" b="1" dirty="0">
                <a:solidFill>
                  <a:srgbClr val="67432D"/>
                </a:solidFill>
                <a:latin typeface="Aptos"/>
              </a:rPr>
              <a:t>3</a:t>
            </a:r>
            <a:endParaRPr sz="2500" b="1" dirty="0">
              <a:solidFill>
                <a:srgbClr val="67432D"/>
              </a:solidFill>
              <a:latin typeface="Aptos"/>
            </a:endParaRPr>
          </a:p>
        </p:txBody>
      </p:sp>
      <p:sp>
        <p:nvSpPr>
          <p:cNvPr id="17" name="Rounded Rectangle 16"/>
          <p:cNvSpPr/>
          <p:nvPr/>
        </p:nvSpPr>
        <p:spPr>
          <a:xfrm>
            <a:off x="396758" y="4912542"/>
            <a:ext cx="5303520" cy="1529627"/>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6758" y="5003107"/>
            <a:ext cx="4937759" cy="320040"/>
          </a:xfrm>
          <a:prstGeom prst="rect">
            <a:avLst/>
          </a:prstGeom>
          <a:noFill/>
        </p:spPr>
        <p:txBody>
          <a:bodyPr wrap="none" anchor="ctr">
            <a:spAutoFit/>
          </a:bodyPr>
          <a:lstStyle/>
          <a:p>
            <a:pPr algn="l"/>
            <a:r>
              <a:rPr sz="1300" b="1">
                <a:solidFill>
                  <a:srgbClr val="67432D"/>
                </a:solidFill>
                <a:latin typeface="Aptos"/>
              </a:rPr>
              <a:t>KEY MESSAGE</a:t>
            </a:r>
          </a:p>
        </p:txBody>
      </p:sp>
      <p:sp>
        <p:nvSpPr>
          <p:cNvPr id="19" name="TextBox 18"/>
          <p:cNvSpPr txBox="1"/>
          <p:nvPr/>
        </p:nvSpPr>
        <p:spPr>
          <a:xfrm>
            <a:off x="327028" y="5003107"/>
            <a:ext cx="4740157" cy="1323439"/>
          </a:xfrm>
          <a:prstGeom prst="rect">
            <a:avLst/>
          </a:prstGeom>
          <a:noFill/>
        </p:spPr>
        <p:txBody>
          <a:bodyPr wrap="square" anchor="t">
            <a:spAutoFit/>
          </a:bodyPr>
          <a:lstStyle/>
          <a:p>
            <a:pPr algn="l"/>
            <a:endParaRPr lang="en-ZA" sz="1600" b="0" dirty="0">
              <a:solidFill>
                <a:srgbClr val="705B4A"/>
              </a:solidFill>
              <a:latin typeface="Aptos"/>
            </a:endParaRPr>
          </a:p>
          <a:p>
            <a:r>
              <a:rPr lang="en-ZA" sz="1600" dirty="0">
                <a:solidFill>
                  <a:srgbClr val="993300"/>
                </a:solidFill>
              </a:rPr>
              <a:t>Bright Coffee made R 698,812 in revenue from 149,116 sales and 214,470 units across the three stores in the first half of 2023, with revenue rising from R81 677 in January to R166 485 in June</a:t>
            </a:r>
            <a:endParaRPr sz="1600" b="0" dirty="0">
              <a:solidFill>
                <a:srgbClr val="993300"/>
              </a:solidFill>
              <a:latin typeface="Aptos"/>
            </a:endParaRPr>
          </a:p>
        </p:txBody>
      </p:sp>
      <p:sp>
        <p:nvSpPr>
          <p:cNvPr id="21" name="TextBox 20"/>
          <p:cNvSpPr txBox="1"/>
          <p:nvPr/>
        </p:nvSpPr>
        <p:spPr>
          <a:xfrm>
            <a:off x="6446520" y="3012164"/>
            <a:ext cx="5029200" cy="320040"/>
          </a:xfrm>
          <a:prstGeom prst="rect">
            <a:avLst/>
          </a:prstGeom>
          <a:noFill/>
        </p:spPr>
        <p:txBody>
          <a:bodyPr wrap="none" anchor="ctr">
            <a:spAutoFit/>
          </a:bodyPr>
          <a:lstStyle/>
          <a:p>
            <a:pPr algn="l"/>
            <a:r>
              <a:rPr sz="1300" b="1">
                <a:solidFill>
                  <a:srgbClr val="67432D"/>
                </a:solidFill>
                <a:latin typeface="Aptos"/>
              </a:rPr>
              <a:t>SUPPORTING VISUAL</a:t>
            </a:r>
          </a:p>
        </p:txBody>
      </p:sp>
      <p:sp>
        <p:nvSpPr>
          <p:cNvPr id="25" name="Rectangle 24"/>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200000">
            <a:off x="11677372" y="6574536"/>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C19B840B-93DC-9E24-6A48-85A92AF3B5E6}"/>
              </a:ext>
            </a:extLst>
          </p:cNvPr>
          <p:cNvSpPr txBox="1"/>
          <p:nvPr/>
        </p:nvSpPr>
        <p:spPr>
          <a:xfrm>
            <a:off x="6505956" y="1546545"/>
            <a:ext cx="2103120" cy="274320"/>
          </a:xfrm>
          <a:prstGeom prst="rect">
            <a:avLst/>
          </a:prstGeom>
          <a:noFill/>
        </p:spPr>
        <p:txBody>
          <a:bodyPr wrap="none" anchor="ctr">
            <a:spAutoFit/>
          </a:bodyPr>
          <a:lstStyle/>
          <a:p>
            <a:pPr algn="l"/>
            <a:r>
              <a:rPr sz="1000" b="1" dirty="0">
                <a:solidFill>
                  <a:srgbClr val="705B4A"/>
                </a:solidFill>
                <a:latin typeface="Aptos"/>
              </a:rPr>
              <a:t>TOTAL SALES</a:t>
            </a:r>
          </a:p>
        </p:txBody>
      </p:sp>
      <p:sp>
        <p:nvSpPr>
          <p:cNvPr id="33" name="Rounded Rectangle 7">
            <a:extLst>
              <a:ext uri="{FF2B5EF4-FFF2-40B4-BE49-F238E27FC236}">
                <a16:creationId xmlns:a16="http://schemas.microsoft.com/office/drawing/2014/main" id="{51598CBC-5CE6-B145-AF2D-809842208EF6}"/>
              </a:ext>
            </a:extLst>
          </p:cNvPr>
          <p:cNvSpPr/>
          <p:nvPr/>
        </p:nvSpPr>
        <p:spPr>
          <a:xfrm>
            <a:off x="6230114" y="1275588"/>
            <a:ext cx="2514600" cy="141732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TextBox 36">
            <a:extLst>
              <a:ext uri="{FF2B5EF4-FFF2-40B4-BE49-F238E27FC236}">
                <a16:creationId xmlns:a16="http://schemas.microsoft.com/office/drawing/2014/main" id="{0ED00411-FBD7-10DA-95BE-62B6AD742A48}"/>
              </a:ext>
            </a:extLst>
          </p:cNvPr>
          <p:cNvSpPr txBox="1"/>
          <p:nvPr/>
        </p:nvSpPr>
        <p:spPr>
          <a:xfrm>
            <a:off x="6628125" y="1930593"/>
            <a:ext cx="1858781" cy="477054"/>
          </a:xfrm>
          <a:prstGeom prst="rect">
            <a:avLst/>
          </a:prstGeom>
          <a:noFill/>
        </p:spPr>
        <p:txBody>
          <a:bodyPr wrap="square" anchor="ctr">
            <a:spAutoFit/>
          </a:bodyPr>
          <a:lstStyle/>
          <a:p>
            <a:pPr algn="l"/>
            <a:r>
              <a:rPr lang="en-ZA" sz="2500" b="1" dirty="0">
                <a:solidFill>
                  <a:srgbClr val="67432D"/>
                </a:solidFill>
                <a:latin typeface="Aptos"/>
              </a:rPr>
              <a:t>149 116</a:t>
            </a:r>
            <a:endParaRPr sz="2500" b="1" dirty="0">
              <a:solidFill>
                <a:srgbClr val="67432D"/>
              </a:solidFill>
              <a:latin typeface="Aptos"/>
            </a:endParaRPr>
          </a:p>
        </p:txBody>
      </p:sp>
      <p:sp>
        <p:nvSpPr>
          <p:cNvPr id="39" name="TextBox 38">
            <a:extLst>
              <a:ext uri="{FF2B5EF4-FFF2-40B4-BE49-F238E27FC236}">
                <a16:creationId xmlns:a16="http://schemas.microsoft.com/office/drawing/2014/main" id="{4210C180-CAED-8FF4-9CF4-9C1527FBE133}"/>
              </a:ext>
            </a:extLst>
          </p:cNvPr>
          <p:cNvSpPr txBox="1"/>
          <p:nvPr/>
        </p:nvSpPr>
        <p:spPr>
          <a:xfrm>
            <a:off x="6503481" y="1490341"/>
            <a:ext cx="1092992" cy="276999"/>
          </a:xfrm>
          <a:prstGeom prst="rect">
            <a:avLst/>
          </a:prstGeom>
          <a:noFill/>
        </p:spPr>
        <p:txBody>
          <a:bodyPr wrap="none" anchor="ctr">
            <a:spAutoFit/>
          </a:bodyPr>
          <a:lstStyle/>
          <a:p>
            <a:pPr algn="l"/>
            <a:r>
              <a:rPr sz="1200" b="1" dirty="0">
                <a:solidFill>
                  <a:srgbClr val="705B4A"/>
                </a:solidFill>
                <a:latin typeface="Aptos"/>
              </a:rPr>
              <a:t>TOTAL </a:t>
            </a:r>
            <a:r>
              <a:rPr lang="en-ZA" sz="1200" b="1" dirty="0">
                <a:solidFill>
                  <a:srgbClr val="705B4A"/>
                </a:solidFill>
                <a:latin typeface="Aptos"/>
              </a:rPr>
              <a:t>SALES</a:t>
            </a:r>
            <a:endParaRPr sz="1200" b="1" dirty="0">
              <a:solidFill>
                <a:srgbClr val="705B4A"/>
              </a:solidFill>
              <a:latin typeface="Aptos"/>
            </a:endParaRPr>
          </a:p>
        </p:txBody>
      </p:sp>
      <p:pic>
        <p:nvPicPr>
          <p:cNvPr id="40" name="Picture 39">
            <a:extLst>
              <a:ext uri="{FF2B5EF4-FFF2-40B4-BE49-F238E27FC236}">
                <a16:creationId xmlns:a16="http://schemas.microsoft.com/office/drawing/2014/main" id="{E9BBEC44-EAC6-A902-0BD2-6F6719338482}"/>
              </a:ext>
            </a:extLst>
          </p:cNvPr>
          <p:cNvPicPr>
            <a:picLocks noChangeAspect="1"/>
          </p:cNvPicPr>
          <p:nvPr/>
        </p:nvPicPr>
        <p:blipFill>
          <a:blip r:embed="rId2"/>
          <a:stretch>
            <a:fillRect/>
          </a:stretch>
        </p:blipFill>
        <p:spPr>
          <a:xfrm>
            <a:off x="6096000" y="2743200"/>
            <a:ext cx="5911041" cy="3770009"/>
          </a:xfrm>
          <a:prstGeom prst="rect">
            <a:avLst/>
          </a:prstGeom>
          <a:effectLst>
            <a:outerShdw blurRad="50800" dist="50800" dir="5400000" algn="ctr" rotWithShape="0">
              <a:srgbClr val="993300">
                <a:alpha val="89000"/>
              </a:srgbClr>
            </a:outerShdw>
            <a:softEdge rad="12700"/>
          </a:effectLst>
        </p:spPr>
      </p:pic>
      <p:sp>
        <p:nvSpPr>
          <p:cNvPr id="4" name="Rounded Rectangle 4">
            <a:extLst>
              <a:ext uri="{FF2B5EF4-FFF2-40B4-BE49-F238E27FC236}">
                <a16:creationId xmlns:a16="http://schemas.microsoft.com/office/drawing/2014/main" id="{D5FA8259-03D8-D85B-EF78-1C27EE7B7F94}"/>
              </a:ext>
            </a:extLst>
          </p:cNvPr>
          <p:cNvSpPr/>
          <p:nvPr/>
        </p:nvSpPr>
        <p:spPr>
          <a:xfrm>
            <a:off x="594360" y="3188898"/>
            <a:ext cx="2768109" cy="1068309"/>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ZA" sz="1400" b="1" dirty="0">
              <a:solidFill>
                <a:srgbClr val="705B4A"/>
              </a:solidFill>
              <a:latin typeface="Aptos"/>
            </a:endParaRPr>
          </a:p>
        </p:txBody>
      </p:sp>
      <p:sp>
        <p:nvSpPr>
          <p:cNvPr id="12" name="TextBox 11">
            <a:extLst>
              <a:ext uri="{FF2B5EF4-FFF2-40B4-BE49-F238E27FC236}">
                <a16:creationId xmlns:a16="http://schemas.microsoft.com/office/drawing/2014/main" id="{BCE91663-F42C-F3F2-F790-001B9789CA9E}"/>
              </a:ext>
            </a:extLst>
          </p:cNvPr>
          <p:cNvSpPr txBox="1"/>
          <p:nvPr/>
        </p:nvSpPr>
        <p:spPr>
          <a:xfrm>
            <a:off x="683880" y="3319496"/>
            <a:ext cx="603627" cy="523220"/>
          </a:xfrm>
          <a:prstGeom prst="rect">
            <a:avLst/>
          </a:prstGeom>
          <a:noFill/>
        </p:spPr>
        <p:txBody>
          <a:bodyPr wrap="none" anchor="ctr">
            <a:spAutoFit/>
          </a:bodyPr>
          <a:lstStyle/>
          <a:p>
            <a:r>
              <a:rPr lang="en-ZA" sz="1400" b="1" dirty="0">
                <a:solidFill>
                  <a:srgbClr val="705B4A"/>
                </a:solidFill>
                <a:latin typeface="Aptos"/>
              </a:rPr>
              <a:t>DATE</a:t>
            </a:r>
          </a:p>
          <a:p>
            <a:pPr algn="l"/>
            <a:endParaRPr sz="1400" b="1" dirty="0">
              <a:solidFill>
                <a:srgbClr val="993300"/>
              </a:solidFill>
              <a:latin typeface="Aptos"/>
            </a:endParaRPr>
          </a:p>
        </p:txBody>
      </p:sp>
      <p:sp>
        <p:nvSpPr>
          <p:cNvPr id="20" name="TextBox 19">
            <a:extLst>
              <a:ext uri="{FF2B5EF4-FFF2-40B4-BE49-F238E27FC236}">
                <a16:creationId xmlns:a16="http://schemas.microsoft.com/office/drawing/2014/main" id="{FBCE49EF-0E16-DA78-AFD6-FD053AAC1E52}"/>
              </a:ext>
            </a:extLst>
          </p:cNvPr>
          <p:cNvSpPr txBox="1"/>
          <p:nvPr/>
        </p:nvSpPr>
        <p:spPr>
          <a:xfrm>
            <a:off x="668187" y="3687016"/>
            <a:ext cx="3619000" cy="369332"/>
          </a:xfrm>
          <a:prstGeom prst="rect">
            <a:avLst/>
          </a:prstGeom>
          <a:noFill/>
        </p:spPr>
        <p:txBody>
          <a:bodyPr wrap="square" anchor="ctr">
            <a:spAutoFit/>
          </a:bodyPr>
          <a:lstStyle/>
          <a:p>
            <a:pPr algn="l"/>
            <a:r>
              <a:rPr lang="en-US" b="1" dirty="0">
                <a:solidFill>
                  <a:srgbClr val="67432D"/>
                </a:solidFill>
                <a:latin typeface="Aptos"/>
              </a:rPr>
              <a:t>01 Jan 2023 – 30 Jun 2023</a:t>
            </a:r>
            <a:endParaRPr b="1" dirty="0">
              <a:solidFill>
                <a:srgbClr val="67432D"/>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Product Performance</a:t>
            </a:r>
          </a:p>
        </p:txBody>
      </p:sp>
      <p:sp>
        <p:nvSpPr>
          <p:cNvPr id="8" name="Rounded Rectangle 7"/>
          <p:cNvSpPr/>
          <p:nvPr/>
        </p:nvSpPr>
        <p:spPr>
          <a:xfrm>
            <a:off x="7269480" y="1362080"/>
            <a:ext cx="4251960" cy="999556"/>
          </a:xfrm>
          <a:prstGeom prst="roundRect">
            <a:avLst/>
          </a:prstGeom>
          <a:solidFill>
            <a:srgbClr val="F2E7D6"/>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43800" y="1479988"/>
            <a:ext cx="2585901" cy="276999"/>
          </a:xfrm>
          <a:prstGeom prst="rect">
            <a:avLst/>
          </a:prstGeom>
          <a:noFill/>
        </p:spPr>
        <p:txBody>
          <a:bodyPr wrap="none" anchor="ctr">
            <a:spAutoFit/>
          </a:bodyPr>
          <a:lstStyle/>
          <a:p>
            <a:pPr algn="l"/>
            <a:r>
              <a:rPr sz="1200" b="1" dirty="0">
                <a:solidFill>
                  <a:srgbClr val="67432D"/>
                </a:solidFill>
                <a:latin typeface="Aptos"/>
              </a:rPr>
              <a:t>TOP </a:t>
            </a:r>
            <a:r>
              <a:rPr lang="en-ZA" sz="1200" b="1" dirty="0">
                <a:solidFill>
                  <a:srgbClr val="67432D"/>
                </a:solidFill>
                <a:latin typeface="Aptos"/>
              </a:rPr>
              <a:t>SALES  &amp; REVENUE </a:t>
            </a:r>
            <a:r>
              <a:rPr sz="1200" b="1" dirty="0">
                <a:solidFill>
                  <a:srgbClr val="67432D"/>
                </a:solidFill>
                <a:latin typeface="Aptos"/>
              </a:rPr>
              <a:t> PRODUCT</a:t>
            </a:r>
          </a:p>
        </p:txBody>
      </p:sp>
      <p:sp>
        <p:nvSpPr>
          <p:cNvPr id="10" name="TextBox 9"/>
          <p:cNvSpPr txBox="1"/>
          <p:nvPr/>
        </p:nvSpPr>
        <p:spPr>
          <a:xfrm>
            <a:off x="7543800" y="1829690"/>
            <a:ext cx="1263679" cy="446276"/>
          </a:xfrm>
          <a:prstGeom prst="rect">
            <a:avLst/>
          </a:prstGeom>
          <a:noFill/>
        </p:spPr>
        <p:txBody>
          <a:bodyPr wrap="none" anchor="ctr">
            <a:spAutoFit/>
          </a:bodyPr>
          <a:lstStyle/>
          <a:p>
            <a:pPr algn="l"/>
            <a:r>
              <a:rPr lang="en-ZA" sz="2300" b="1" dirty="0">
                <a:solidFill>
                  <a:srgbClr val="993300"/>
                </a:solidFill>
                <a:latin typeface="Aptos"/>
              </a:rPr>
              <a:t>COFFEE</a:t>
            </a:r>
            <a:endParaRPr sz="2300" b="1" dirty="0">
              <a:solidFill>
                <a:srgbClr val="993300"/>
              </a:solidFill>
              <a:latin typeface="Aptos"/>
            </a:endParaRPr>
          </a:p>
        </p:txBody>
      </p:sp>
      <p:sp>
        <p:nvSpPr>
          <p:cNvPr id="11" name="Rounded Rectangle 10"/>
          <p:cNvSpPr/>
          <p:nvPr/>
        </p:nvSpPr>
        <p:spPr>
          <a:xfrm>
            <a:off x="7269480" y="2788920"/>
            <a:ext cx="4251960" cy="2971800"/>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ZA" dirty="0">
                <a:solidFill>
                  <a:srgbClr val="993300"/>
                </a:solidFill>
              </a:rPr>
              <a:t> </a:t>
            </a:r>
            <a:r>
              <a:rPr lang="en-ZA" sz="2000" dirty="0">
                <a:solidFill>
                  <a:srgbClr val="993300"/>
                </a:solidFill>
              </a:rPr>
              <a:t>Coffee is the engine of the business with R269 952 in revenue from 89,250 units sold across January to June 2023.</a:t>
            </a:r>
            <a:endParaRPr sz="2000" dirty="0">
              <a:solidFill>
                <a:srgbClr val="993300"/>
              </a:solidFill>
            </a:endParaRPr>
          </a:p>
        </p:txBody>
      </p:sp>
      <p:sp>
        <p:nvSpPr>
          <p:cNvPr id="13" name="TextBox 12"/>
          <p:cNvSpPr txBox="1"/>
          <p:nvPr/>
        </p:nvSpPr>
        <p:spPr>
          <a:xfrm>
            <a:off x="7452360" y="3447287"/>
            <a:ext cx="224742" cy="261610"/>
          </a:xfrm>
          <a:prstGeom prst="rect">
            <a:avLst/>
          </a:prstGeom>
          <a:noFill/>
        </p:spPr>
        <p:txBody>
          <a:bodyPr wrap="none" anchor="t">
            <a:spAutoFit/>
          </a:bodyPr>
          <a:lstStyle/>
          <a:p>
            <a:pPr algn="l"/>
            <a:r>
              <a:rPr sz="1100" b="0" dirty="0">
                <a:solidFill>
                  <a:srgbClr val="705B4A"/>
                </a:solidFill>
                <a:latin typeface="Aptos"/>
              </a:rPr>
              <a:t>.</a:t>
            </a:r>
          </a:p>
        </p:txBody>
      </p:sp>
      <p:sp>
        <p:nvSpPr>
          <p:cNvPr id="16" name="Rectangle 15"/>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a:extLst>
              <a:ext uri="{FF2B5EF4-FFF2-40B4-BE49-F238E27FC236}">
                <a16:creationId xmlns:a16="http://schemas.microsoft.com/office/drawing/2014/main" id="{5FD5D693-480A-37BD-A957-6A9E2DA3B951}"/>
              </a:ext>
            </a:extLst>
          </p:cNvPr>
          <p:cNvPicPr>
            <a:picLocks noChangeAspect="1"/>
          </p:cNvPicPr>
          <p:nvPr/>
        </p:nvPicPr>
        <p:blipFill>
          <a:blip r:embed="rId2"/>
          <a:stretch>
            <a:fillRect/>
          </a:stretch>
        </p:blipFill>
        <p:spPr>
          <a:xfrm>
            <a:off x="356375" y="1330076"/>
            <a:ext cx="6873297" cy="4540371"/>
          </a:xfrm>
          <a:prstGeom prst="rect">
            <a:avLst/>
          </a:prstGeom>
          <a:effectLst>
            <a:outerShdw blurRad="50800" dist="38100" dir="5400000" algn="t" rotWithShape="0">
              <a:srgbClr val="993300">
                <a:alpha val="83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18450"/>
            <a:ext cx="2931956" cy="523220"/>
          </a:xfrm>
          <a:prstGeom prst="rect">
            <a:avLst/>
          </a:prstGeom>
          <a:noFill/>
        </p:spPr>
        <p:txBody>
          <a:bodyPr wrap="none" anchor="ctr">
            <a:spAutoFit/>
          </a:bodyPr>
          <a:lstStyle/>
          <a:p>
            <a:pPr algn="l"/>
            <a:r>
              <a:rPr lang="en-ZA" sz="2800" b="1" dirty="0">
                <a:solidFill>
                  <a:srgbClr val="3D271C"/>
                </a:solidFill>
                <a:latin typeface="Aptos"/>
              </a:rPr>
              <a:t>Revenue</a:t>
            </a:r>
            <a:r>
              <a:rPr sz="2800" b="1" dirty="0">
                <a:solidFill>
                  <a:srgbClr val="3D271C"/>
                </a:solidFill>
                <a:latin typeface="Aptos"/>
              </a:rPr>
              <a:t> by Time</a:t>
            </a:r>
          </a:p>
        </p:txBody>
      </p:sp>
      <p:sp>
        <p:nvSpPr>
          <p:cNvPr id="8" name="Rounded Rectangle 7"/>
          <p:cNvSpPr/>
          <p:nvPr/>
        </p:nvSpPr>
        <p:spPr>
          <a:xfrm>
            <a:off x="8183879" y="1234440"/>
            <a:ext cx="2998748" cy="641133"/>
          </a:xfrm>
          <a:prstGeom prst="roundRect">
            <a:avLst/>
          </a:prstGeom>
          <a:solidFill>
            <a:srgbClr val="F2E7D6"/>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75357" y="1257854"/>
            <a:ext cx="1405641" cy="276999"/>
          </a:xfrm>
          <a:prstGeom prst="rect">
            <a:avLst/>
          </a:prstGeom>
          <a:noFill/>
        </p:spPr>
        <p:txBody>
          <a:bodyPr wrap="none" anchor="ctr">
            <a:spAutoFit/>
          </a:bodyPr>
          <a:lstStyle/>
          <a:p>
            <a:pPr algn="l"/>
            <a:r>
              <a:rPr sz="1200" b="1" dirty="0">
                <a:solidFill>
                  <a:srgbClr val="67432D"/>
                </a:solidFill>
                <a:latin typeface="Aptos"/>
              </a:rPr>
              <a:t>PEAK SALES TIME</a:t>
            </a:r>
          </a:p>
        </p:txBody>
      </p:sp>
      <p:sp>
        <p:nvSpPr>
          <p:cNvPr id="10" name="TextBox 9"/>
          <p:cNvSpPr txBox="1"/>
          <p:nvPr/>
        </p:nvSpPr>
        <p:spPr>
          <a:xfrm>
            <a:off x="8416778" y="1413908"/>
            <a:ext cx="1322798" cy="461665"/>
          </a:xfrm>
          <a:prstGeom prst="rect">
            <a:avLst/>
          </a:prstGeom>
          <a:noFill/>
        </p:spPr>
        <p:txBody>
          <a:bodyPr wrap="none" anchor="ctr">
            <a:spAutoFit/>
          </a:bodyPr>
          <a:lstStyle/>
          <a:p>
            <a:pPr algn="l"/>
            <a:r>
              <a:rPr lang="en-ZA" sz="2400" b="1" dirty="0">
                <a:solidFill>
                  <a:srgbClr val="3D271C"/>
                </a:solidFill>
                <a:latin typeface="Aptos"/>
              </a:rPr>
              <a:t>Morning</a:t>
            </a:r>
            <a:endParaRPr sz="2400" b="1" dirty="0">
              <a:solidFill>
                <a:srgbClr val="3D271C"/>
              </a:solidFill>
              <a:latin typeface="Aptos"/>
            </a:endParaRPr>
          </a:p>
        </p:txBody>
      </p:sp>
      <p:sp>
        <p:nvSpPr>
          <p:cNvPr id="11" name="Rounded Rectangle 10"/>
          <p:cNvSpPr/>
          <p:nvPr/>
        </p:nvSpPr>
        <p:spPr>
          <a:xfrm>
            <a:off x="8047936" y="2051489"/>
            <a:ext cx="4144064" cy="1548859"/>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ZA" dirty="0">
                <a:solidFill>
                  <a:srgbClr val="993300"/>
                </a:solidFill>
              </a:rPr>
              <a:t> Mornings carry over half the business, so the strongest team should be on the opening shift, not spread evenly across the day.</a:t>
            </a:r>
            <a:endParaRPr dirty="0">
              <a:solidFill>
                <a:srgbClr val="993300"/>
              </a:solidFill>
            </a:endParaRPr>
          </a:p>
        </p:txBody>
      </p:sp>
      <p:sp>
        <p:nvSpPr>
          <p:cNvPr id="16" name="Rectangle 15"/>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a:extLst>
              <a:ext uri="{FF2B5EF4-FFF2-40B4-BE49-F238E27FC236}">
                <a16:creationId xmlns:a16="http://schemas.microsoft.com/office/drawing/2014/main" id="{5C6C1233-6314-FFF2-9F6D-218E6322B390}"/>
              </a:ext>
            </a:extLst>
          </p:cNvPr>
          <p:cNvPicPr>
            <a:picLocks noChangeAspect="1"/>
          </p:cNvPicPr>
          <p:nvPr/>
        </p:nvPicPr>
        <p:blipFill>
          <a:blip r:embed="rId2"/>
          <a:stretch>
            <a:fillRect/>
          </a:stretch>
        </p:blipFill>
        <p:spPr>
          <a:xfrm>
            <a:off x="502920" y="1275588"/>
            <a:ext cx="7473405" cy="4594860"/>
          </a:xfrm>
          <a:prstGeom prst="rect">
            <a:avLst/>
          </a:prstGeom>
        </p:spPr>
      </p:pic>
      <p:sp>
        <p:nvSpPr>
          <p:cNvPr id="21" name="Rounded Rectangle 10">
            <a:extLst>
              <a:ext uri="{FF2B5EF4-FFF2-40B4-BE49-F238E27FC236}">
                <a16:creationId xmlns:a16="http://schemas.microsoft.com/office/drawing/2014/main" id="{8779C9D4-9A88-E85A-9EE5-540BF66983A7}"/>
              </a:ext>
            </a:extLst>
          </p:cNvPr>
          <p:cNvSpPr/>
          <p:nvPr/>
        </p:nvSpPr>
        <p:spPr>
          <a:xfrm>
            <a:off x="7997103" y="3776264"/>
            <a:ext cx="4144064" cy="1548859"/>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ZA" dirty="0">
                <a:solidFill>
                  <a:srgbClr val="993300"/>
                </a:solidFill>
                <a:latin typeface="Camera Plain Variable"/>
              </a:rPr>
              <a:t>Coffee, Tea &amp; Bakery</a:t>
            </a:r>
            <a:r>
              <a:rPr lang="en-ZA" sz="1800" b="0" i="0" dirty="0">
                <a:solidFill>
                  <a:srgbClr val="993300"/>
                </a:solidFill>
                <a:effectLst/>
                <a:latin typeface="Camera Plain Variable"/>
              </a:rPr>
              <a:t> items that peak in the morning should be stocked, baked</a:t>
            </a:r>
            <a:r>
              <a:rPr lang="en-ZA" dirty="0">
                <a:solidFill>
                  <a:srgbClr val="993300"/>
                </a:solidFill>
                <a:latin typeface="Camera Plain Variable"/>
              </a:rPr>
              <a:t> &amp; </a:t>
            </a:r>
            <a:r>
              <a:rPr lang="en-ZA" sz="1800" b="0" i="0" dirty="0">
                <a:solidFill>
                  <a:srgbClr val="993300"/>
                </a:solidFill>
                <a:effectLst/>
                <a:latin typeface="Camera Plain Variable"/>
              </a:rPr>
              <a:t>counted to morning demand.</a:t>
            </a:r>
            <a:endParaRPr dirty="0">
              <a:solidFill>
                <a:srgbClr val="9933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457200" cy="274320"/>
          </a:xfrm>
          <a:prstGeom prst="rect">
            <a:avLst/>
          </a:prstGeom>
          <a:noFill/>
        </p:spPr>
        <p:txBody>
          <a:bodyPr wrap="none" anchor="ctr">
            <a:spAutoFit/>
          </a:bodyPr>
          <a:lstStyle/>
          <a:p>
            <a:pPr algn="l"/>
            <a:r>
              <a:rPr sz="1100" b="1">
                <a:solidFill>
                  <a:srgbClr val="67432D"/>
                </a:solidFill>
                <a:latin typeface="Aptos"/>
              </a:rPr>
              <a:t>08</a:t>
            </a:r>
          </a:p>
        </p:txBody>
      </p:sp>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Store Performance</a:t>
            </a:r>
          </a:p>
        </p:txBody>
      </p:sp>
      <p:sp>
        <p:nvSpPr>
          <p:cNvPr id="6" name="TextBox 5"/>
          <p:cNvSpPr txBox="1"/>
          <p:nvPr/>
        </p:nvSpPr>
        <p:spPr>
          <a:xfrm>
            <a:off x="777240" y="1399032"/>
            <a:ext cx="6172200" cy="320040"/>
          </a:xfrm>
          <a:prstGeom prst="rect">
            <a:avLst/>
          </a:prstGeom>
          <a:noFill/>
        </p:spPr>
        <p:txBody>
          <a:bodyPr wrap="none" anchor="ctr">
            <a:spAutoFit/>
          </a:bodyPr>
          <a:lstStyle/>
          <a:p>
            <a:pPr algn="l"/>
            <a:r>
              <a:rPr sz="1300" b="1">
                <a:solidFill>
                  <a:srgbClr val="67432D"/>
                </a:solidFill>
                <a:latin typeface="Aptos"/>
              </a:rPr>
              <a:t>STORE REVENUE VISUAL</a:t>
            </a:r>
          </a:p>
        </p:txBody>
      </p:sp>
      <p:sp>
        <p:nvSpPr>
          <p:cNvPr id="8" name="Rounded Rectangle 7"/>
          <p:cNvSpPr/>
          <p:nvPr/>
        </p:nvSpPr>
        <p:spPr>
          <a:xfrm>
            <a:off x="8317135" y="2055656"/>
            <a:ext cx="2877609" cy="1209556"/>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34443" y="2298971"/>
            <a:ext cx="2042162" cy="276999"/>
          </a:xfrm>
          <a:prstGeom prst="rect">
            <a:avLst/>
          </a:prstGeom>
          <a:noFill/>
        </p:spPr>
        <p:txBody>
          <a:bodyPr wrap="none" anchor="ctr">
            <a:spAutoFit/>
          </a:bodyPr>
          <a:lstStyle/>
          <a:p>
            <a:pPr algn="l"/>
            <a:r>
              <a:rPr sz="1200" b="1" dirty="0">
                <a:solidFill>
                  <a:srgbClr val="705B4A"/>
                </a:solidFill>
                <a:latin typeface="Aptos"/>
              </a:rPr>
              <a:t>BEST-PERFORMING STORE</a:t>
            </a:r>
          </a:p>
        </p:txBody>
      </p:sp>
      <p:sp>
        <p:nvSpPr>
          <p:cNvPr id="10" name="TextBox 9"/>
          <p:cNvSpPr txBox="1"/>
          <p:nvPr/>
        </p:nvSpPr>
        <p:spPr>
          <a:xfrm>
            <a:off x="8534443" y="2654584"/>
            <a:ext cx="2054280" cy="446276"/>
          </a:xfrm>
          <a:prstGeom prst="rect">
            <a:avLst/>
          </a:prstGeom>
          <a:noFill/>
        </p:spPr>
        <p:txBody>
          <a:bodyPr wrap="none" anchor="ctr">
            <a:spAutoFit/>
          </a:bodyPr>
          <a:lstStyle/>
          <a:p>
            <a:pPr algn="l"/>
            <a:r>
              <a:rPr lang="en-ZA" sz="2300" b="1" dirty="0">
                <a:solidFill>
                  <a:srgbClr val="67432D"/>
                </a:solidFill>
                <a:latin typeface="Aptos"/>
              </a:rPr>
              <a:t>Hell’s Kitchen</a:t>
            </a:r>
            <a:endParaRPr sz="2300" b="1" dirty="0">
              <a:solidFill>
                <a:srgbClr val="67432D"/>
              </a:solidFill>
              <a:latin typeface="Aptos"/>
            </a:endParaRPr>
          </a:p>
        </p:txBody>
      </p:sp>
      <p:sp>
        <p:nvSpPr>
          <p:cNvPr id="11" name="Rounded Rectangle 10"/>
          <p:cNvSpPr/>
          <p:nvPr/>
        </p:nvSpPr>
        <p:spPr>
          <a:xfrm>
            <a:off x="8219173" y="3531608"/>
            <a:ext cx="3544043" cy="2338840"/>
          </a:xfrm>
          <a:prstGeom prst="roundRect">
            <a:avLst/>
          </a:prstGeom>
          <a:solidFill>
            <a:srgbClr val="FFFAF1"/>
          </a:solidFill>
          <a:ln>
            <a:solidFill>
              <a:srgbClr val="DEC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1717" y="3798441"/>
            <a:ext cx="3703320" cy="320040"/>
          </a:xfrm>
          <a:prstGeom prst="rect">
            <a:avLst/>
          </a:prstGeom>
          <a:noFill/>
        </p:spPr>
        <p:txBody>
          <a:bodyPr wrap="none" anchor="ctr">
            <a:spAutoFit/>
          </a:bodyPr>
          <a:lstStyle/>
          <a:p>
            <a:pPr algn="l"/>
            <a:r>
              <a:rPr sz="1300" b="1" dirty="0">
                <a:solidFill>
                  <a:srgbClr val="67432D"/>
                </a:solidFill>
                <a:latin typeface="Aptos"/>
              </a:rPr>
              <a:t>STORE INSIGHT</a:t>
            </a:r>
          </a:p>
        </p:txBody>
      </p:sp>
      <p:sp>
        <p:nvSpPr>
          <p:cNvPr id="13" name="TextBox 12"/>
          <p:cNvSpPr txBox="1"/>
          <p:nvPr/>
        </p:nvSpPr>
        <p:spPr>
          <a:xfrm>
            <a:off x="8252460" y="4305933"/>
            <a:ext cx="3703319" cy="1646605"/>
          </a:xfrm>
          <a:prstGeom prst="rect">
            <a:avLst/>
          </a:prstGeom>
          <a:noFill/>
        </p:spPr>
        <p:txBody>
          <a:bodyPr wrap="square" anchor="t">
            <a:spAutoFit/>
          </a:bodyPr>
          <a:lstStyle/>
          <a:p>
            <a:pPr algn="l"/>
            <a:r>
              <a:rPr lang="en-ZA" b="0" dirty="0">
                <a:solidFill>
                  <a:srgbClr val="993300"/>
                </a:solidFill>
                <a:latin typeface="Aptos"/>
              </a:rPr>
              <a:t>Hell’s Kitchen is the best performing store in Revenue, followed by Astoria then Lower Manhattan based on weekdays &amp; weekends.</a:t>
            </a:r>
          </a:p>
          <a:p>
            <a:pPr algn="l"/>
            <a:endParaRPr sz="1100" b="0" dirty="0">
              <a:solidFill>
                <a:srgbClr val="705B4A"/>
              </a:solidFill>
              <a:latin typeface="Aptos"/>
            </a:endParaRPr>
          </a:p>
        </p:txBody>
      </p:sp>
      <p:sp>
        <p:nvSpPr>
          <p:cNvPr id="14" name="TextBox 13"/>
          <p:cNvSpPr txBox="1"/>
          <p:nvPr/>
        </p:nvSpPr>
        <p:spPr>
          <a:xfrm>
            <a:off x="502920" y="6510528"/>
            <a:ext cx="6400800" cy="182880"/>
          </a:xfrm>
          <a:prstGeom prst="rect">
            <a:avLst/>
          </a:prstGeom>
          <a:noFill/>
        </p:spPr>
        <p:txBody>
          <a:bodyPr wrap="none" anchor="ctr">
            <a:spAutoFit/>
          </a:bodyPr>
          <a:lstStyle/>
          <a:p>
            <a:pPr algn="l"/>
            <a:r>
              <a:rPr sz="800" b="1">
                <a:solidFill>
                  <a:srgbClr val="705B4A"/>
                </a:solidFill>
                <a:latin typeface="Aptos"/>
              </a:rPr>
              <a:t>BRIGHT COFFEE SHOP • SALES ANALYSIS</a:t>
            </a:r>
          </a:p>
        </p:txBody>
      </p:sp>
      <p:sp>
        <p:nvSpPr>
          <p:cNvPr id="15" name="TextBox 14"/>
          <p:cNvSpPr txBox="1"/>
          <p:nvPr/>
        </p:nvSpPr>
        <p:spPr>
          <a:xfrm>
            <a:off x="11292840" y="6473952"/>
            <a:ext cx="365760" cy="182880"/>
          </a:xfrm>
          <a:prstGeom prst="rect">
            <a:avLst/>
          </a:prstGeom>
          <a:noFill/>
        </p:spPr>
        <p:txBody>
          <a:bodyPr wrap="none" anchor="ctr">
            <a:spAutoFit/>
          </a:bodyPr>
          <a:lstStyle/>
          <a:p>
            <a:pPr algn="r"/>
            <a:r>
              <a:rPr sz="800" b="1">
                <a:solidFill>
                  <a:srgbClr val="705B4A"/>
                </a:solidFill>
                <a:latin typeface="Aptos"/>
              </a:rPr>
              <a:t>8</a:t>
            </a:r>
          </a:p>
        </p:txBody>
      </p:sp>
      <p:sp>
        <p:nvSpPr>
          <p:cNvPr id="16" name="Rectangle 15"/>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0" y="283464"/>
            <a:ext cx="2651760" cy="228600"/>
          </a:xfrm>
          <a:prstGeom prst="rect">
            <a:avLst/>
          </a:prstGeom>
          <a:noFill/>
        </p:spPr>
        <p:txBody>
          <a:bodyPr wrap="none">
            <a:spAutoFit/>
          </a:bodyPr>
          <a:lstStyle/>
          <a:p>
            <a:pPr algn="r"/>
            <a:r>
              <a:rPr sz="800" b="1">
                <a:solidFill>
                  <a:srgbClr val="896349"/>
                </a:solidFill>
                <a:latin typeface="Aptos"/>
              </a:rPr>
              <a:t>STORE INSIGHTS</a:t>
            </a:r>
          </a:p>
        </p:txBody>
      </p:sp>
      <p:pic>
        <p:nvPicPr>
          <p:cNvPr id="19" name="Picture 18">
            <a:extLst>
              <a:ext uri="{FF2B5EF4-FFF2-40B4-BE49-F238E27FC236}">
                <a16:creationId xmlns:a16="http://schemas.microsoft.com/office/drawing/2014/main" id="{271D9958-88D8-7C0E-43FA-49325E4C4FD7}"/>
              </a:ext>
            </a:extLst>
          </p:cNvPr>
          <p:cNvPicPr>
            <a:picLocks noChangeAspect="1"/>
          </p:cNvPicPr>
          <p:nvPr/>
        </p:nvPicPr>
        <p:blipFill>
          <a:blip r:embed="rId2"/>
          <a:stretch>
            <a:fillRect/>
          </a:stretch>
        </p:blipFill>
        <p:spPr>
          <a:xfrm>
            <a:off x="236963" y="1678298"/>
            <a:ext cx="7169675" cy="45952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Key Findings</a:t>
            </a:r>
          </a:p>
        </p:txBody>
      </p:sp>
      <p:sp>
        <p:nvSpPr>
          <p:cNvPr id="5" name="Rounded Rectangle 4"/>
          <p:cNvSpPr/>
          <p:nvPr/>
        </p:nvSpPr>
        <p:spPr>
          <a:xfrm>
            <a:off x="594360" y="123444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406837"/>
            <a:ext cx="888000" cy="276999"/>
          </a:xfrm>
          <a:prstGeom prst="rect">
            <a:avLst/>
          </a:prstGeom>
          <a:noFill/>
        </p:spPr>
        <p:txBody>
          <a:bodyPr wrap="none" anchor="ctr">
            <a:spAutoFit/>
          </a:bodyPr>
          <a:lstStyle/>
          <a:p>
            <a:pPr algn="l"/>
            <a:r>
              <a:rPr sz="1200" b="1" dirty="0">
                <a:solidFill>
                  <a:srgbClr val="67432D"/>
                </a:solidFill>
                <a:latin typeface="Aptos"/>
              </a:rPr>
              <a:t>PRODUCT</a:t>
            </a:r>
          </a:p>
        </p:txBody>
      </p:sp>
      <p:sp>
        <p:nvSpPr>
          <p:cNvPr id="7" name="TextBox 6"/>
          <p:cNvSpPr txBox="1"/>
          <p:nvPr/>
        </p:nvSpPr>
        <p:spPr>
          <a:xfrm>
            <a:off x="822960" y="1822442"/>
            <a:ext cx="1915717" cy="369332"/>
          </a:xfrm>
          <a:prstGeom prst="rect">
            <a:avLst/>
          </a:prstGeom>
          <a:noFill/>
        </p:spPr>
        <p:txBody>
          <a:bodyPr wrap="none" anchor="ctr">
            <a:spAutoFit/>
          </a:bodyPr>
          <a:lstStyle/>
          <a:p>
            <a:pPr algn="l"/>
            <a:r>
              <a:rPr lang="en-ZA" b="1" dirty="0">
                <a:solidFill>
                  <a:srgbClr val="3D271C"/>
                </a:solidFill>
                <a:latin typeface="Aptos"/>
              </a:rPr>
              <a:t>Coffee  R269 952</a:t>
            </a:r>
            <a:endParaRPr b="1" dirty="0">
              <a:solidFill>
                <a:srgbClr val="3D271C"/>
              </a:solidFill>
              <a:latin typeface="Aptos"/>
            </a:endParaRPr>
          </a:p>
        </p:txBody>
      </p:sp>
      <p:sp>
        <p:nvSpPr>
          <p:cNvPr id="8" name="Rounded Rectangle 7"/>
          <p:cNvSpPr/>
          <p:nvPr/>
        </p:nvSpPr>
        <p:spPr>
          <a:xfrm>
            <a:off x="6217920" y="123444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391448"/>
            <a:ext cx="579005" cy="307777"/>
          </a:xfrm>
          <a:prstGeom prst="rect">
            <a:avLst/>
          </a:prstGeom>
          <a:noFill/>
        </p:spPr>
        <p:txBody>
          <a:bodyPr wrap="none" anchor="ctr">
            <a:spAutoFit/>
          </a:bodyPr>
          <a:lstStyle/>
          <a:p>
            <a:pPr algn="l"/>
            <a:r>
              <a:rPr lang="en-ZA" sz="1400" b="1" dirty="0">
                <a:solidFill>
                  <a:srgbClr val="67432D"/>
                </a:solidFill>
                <a:latin typeface="Aptos"/>
              </a:rPr>
              <a:t>TIME</a:t>
            </a:r>
            <a:endParaRPr sz="1400" b="1" dirty="0">
              <a:solidFill>
                <a:srgbClr val="67432D"/>
              </a:solidFill>
              <a:latin typeface="Aptos"/>
            </a:endParaRPr>
          </a:p>
        </p:txBody>
      </p:sp>
      <p:sp>
        <p:nvSpPr>
          <p:cNvPr id="10" name="TextBox 9"/>
          <p:cNvSpPr txBox="1"/>
          <p:nvPr/>
        </p:nvSpPr>
        <p:spPr>
          <a:xfrm>
            <a:off x="6446520" y="1853219"/>
            <a:ext cx="1985352" cy="307777"/>
          </a:xfrm>
          <a:prstGeom prst="rect">
            <a:avLst/>
          </a:prstGeom>
          <a:noFill/>
        </p:spPr>
        <p:txBody>
          <a:bodyPr wrap="none" anchor="ctr">
            <a:spAutoFit/>
          </a:bodyPr>
          <a:lstStyle/>
          <a:p>
            <a:pPr algn="l"/>
            <a:r>
              <a:rPr lang="en-ZA" sz="1400" b="1" dirty="0">
                <a:solidFill>
                  <a:srgbClr val="3D271C"/>
                </a:solidFill>
                <a:latin typeface="Aptos"/>
              </a:rPr>
              <a:t>Mornings – Peak Sales</a:t>
            </a:r>
            <a:endParaRPr sz="1400" b="1" dirty="0">
              <a:solidFill>
                <a:srgbClr val="3D271C"/>
              </a:solidFill>
              <a:latin typeface="Aptos"/>
            </a:endParaRPr>
          </a:p>
        </p:txBody>
      </p:sp>
      <p:sp>
        <p:nvSpPr>
          <p:cNvPr id="11" name="Rounded Rectangle 10"/>
          <p:cNvSpPr/>
          <p:nvPr/>
        </p:nvSpPr>
        <p:spPr>
          <a:xfrm>
            <a:off x="594360" y="278892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945927"/>
            <a:ext cx="725840" cy="307777"/>
          </a:xfrm>
          <a:prstGeom prst="rect">
            <a:avLst/>
          </a:prstGeom>
          <a:noFill/>
        </p:spPr>
        <p:txBody>
          <a:bodyPr wrap="none" anchor="ctr">
            <a:spAutoFit/>
          </a:bodyPr>
          <a:lstStyle/>
          <a:p>
            <a:pPr algn="l"/>
            <a:r>
              <a:rPr sz="1400" b="1" dirty="0">
                <a:solidFill>
                  <a:srgbClr val="67432D"/>
                </a:solidFill>
                <a:latin typeface="Aptos"/>
              </a:rPr>
              <a:t>STORE</a:t>
            </a:r>
          </a:p>
        </p:txBody>
      </p:sp>
      <p:sp>
        <p:nvSpPr>
          <p:cNvPr id="13" name="TextBox 12"/>
          <p:cNvSpPr txBox="1"/>
          <p:nvPr/>
        </p:nvSpPr>
        <p:spPr>
          <a:xfrm>
            <a:off x="822960" y="3376922"/>
            <a:ext cx="3189656" cy="369332"/>
          </a:xfrm>
          <a:prstGeom prst="rect">
            <a:avLst/>
          </a:prstGeom>
          <a:noFill/>
        </p:spPr>
        <p:txBody>
          <a:bodyPr wrap="none" anchor="ctr">
            <a:spAutoFit/>
          </a:bodyPr>
          <a:lstStyle/>
          <a:p>
            <a:pPr algn="l"/>
            <a:r>
              <a:rPr lang="en-ZA" b="1" dirty="0">
                <a:solidFill>
                  <a:srgbClr val="3D271C"/>
                </a:solidFill>
                <a:latin typeface="Aptos"/>
              </a:rPr>
              <a:t>Hell’s Kitchen  R236 511,17  </a:t>
            </a:r>
            <a:endParaRPr b="1" dirty="0">
              <a:solidFill>
                <a:srgbClr val="3D271C"/>
              </a:solidFill>
              <a:latin typeface="Aptos"/>
            </a:endParaRPr>
          </a:p>
        </p:txBody>
      </p:sp>
      <p:sp>
        <p:nvSpPr>
          <p:cNvPr id="14" name="Rounded Rectangle 13"/>
          <p:cNvSpPr/>
          <p:nvPr/>
        </p:nvSpPr>
        <p:spPr>
          <a:xfrm>
            <a:off x="6217920" y="278892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6446520" y="2822817"/>
            <a:ext cx="3262047" cy="276999"/>
          </a:xfrm>
          <a:prstGeom prst="rect">
            <a:avLst/>
          </a:prstGeom>
          <a:noFill/>
        </p:spPr>
        <p:txBody>
          <a:bodyPr wrap="none" anchor="ctr">
            <a:spAutoFit/>
          </a:bodyPr>
          <a:lstStyle/>
          <a:p>
            <a:pPr algn="l"/>
            <a:r>
              <a:rPr sz="1200" b="1" dirty="0">
                <a:solidFill>
                  <a:srgbClr val="67432D"/>
                </a:solidFill>
                <a:latin typeface="Aptos"/>
              </a:rPr>
              <a:t>SALES VOLUME</a:t>
            </a:r>
            <a:r>
              <a:rPr lang="en-ZA" sz="1200" b="1" dirty="0">
                <a:solidFill>
                  <a:srgbClr val="67432D"/>
                </a:solidFill>
                <a:latin typeface="Aptos"/>
              </a:rPr>
              <a:t>  PRODUCT CATEGORY TOP 3</a:t>
            </a:r>
            <a:endParaRPr sz="1200" b="1" dirty="0">
              <a:solidFill>
                <a:srgbClr val="67432D"/>
              </a:solidFill>
              <a:latin typeface="Aptos"/>
            </a:endParaRPr>
          </a:p>
        </p:txBody>
      </p:sp>
      <p:sp>
        <p:nvSpPr>
          <p:cNvPr id="17" name="Rounded Rectangle 16"/>
          <p:cNvSpPr/>
          <p:nvPr/>
        </p:nvSpPr>
        <p:spPr>
          <a:xfrm>
            <a:off x="3401568" y="4343400"/>
            <a:ext cx="5257800" cy="1234440"/>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30168" y="4515797"/>
            <a:ext cx="2339743" cy="276999"/>
          </a:xfrm>
          <a:prstGeom prst="rect">
            <a:avLst/>
          </a:prstGeom>
          <a:noFill/>
        </p:spPr>
        <p:txBody>
          <a:bodyPr wrap="none" anchor="ctr">
            <a:spAutoFit/>
          </a:bodyPr>
          <a:lstStyle/>
          <a:p>
            <a:pPr algn="l"/>
            <a:r>
              <a:rPr lang="en-ZA" sz="1200" b="1" dirty="0">
                <a:solidFill>
                  <a:srgbClr val="67432D"/>
                </a:solidFill>
                <a:latin typeface="Aptos"/>
              </a:rPr>
              <a:t>LOW PERFORMING PRODUCTS</a:t>
            </a:r>
            <a:endParaRPr sz="1200" b="1" dirty="0">
              <a:solidFill>
                <a:srgbClr val="67432D"/>
              </a:solidFill>
              <a:latin typeface="Aptos"/>
            </a:endParaRPr>
          </a:p>
        </p:txBody>
      </p:sp>
      <p:sp>
        <p:nvSpPr>
          <p:cNvPr id="19" name="TextBox 18"/>
          <p:cNvSpPr txBox="1"/>
          <p:nvPr/>
        </p:nvSpPr>
        <p:spPr>
          <a:xfrm>
            <a:off x="3630168" y="4746736"/>
            <a:ext cx="2190536" cy="738664"/>
          </a:xfrm>
          <a:prstGeom prst="rect">
            <a:avLst/>
          </a:prstGeom>
          <a:noFill/>
        </p:spPr>
        <p:txBody>
          <a:bodyPr wrap="none" anchor="ctr">
            <a:spAutoFit/>
          </a:bodyPr>
          <a:lstStyle/>
          <a:p>
            <a:pPr algn="l"/>
            <a:r>
              <a:rPr lang="en-ZA" sz="1400" b="1" dirty="0">
                <a:solidFill>
                  <a:srgbClr val="3D271C"/>
                </a:solidFill>
                <a:latin typeface="Aptos"/>
              </a:rPr>
              <a:t>Packaged chocolate 487 </a:t>
            </a:r>
          </a:p>
          <a:p>
            <a:pPr algn="l"/>
            <a:r>
              <a:rPr lang="en-ZA" sz="1400" b="1" dirty="0">
                <a:solidFill>
                  <a:srgbClr val="3D271C"/>
                </a:solidFill>
                <a:latin typeface="Aptos"/>
              </a:rPr>
              <a:t>Branded 776</a:t>
            </a:r>
          </a:p>
          <a:p>
            <a:pPr algn="l"/>
            <a:r>
              <a:rPr lang="en-ZA" sz="1400" b="1" dirty="0">
                <a:solidFill>
                  <a:srgbClr val="3D271C"/>
                </a:solidFill>
                <a:latin typeface="Aptos"/>
              </a:rPr>
              <a:t>Loose Tea 1210</a:t>
            </a:r>
            <a:endParaRPr sz="1400" b="1" dirty="0">
              <a:solidFill>
                <a:srgbClr val="3D271C"/>
              </a:solidFill>
              <a:latin typeface="Aptos"/>
            </a:endParaRPr>
          </a:p>
        </p:txBody>
      </p:sp>
      <p:sp>
        <p:nvSpPr>
          <p:cNvPr id="22" name="Rectangle 21"/>
          <p:cNvSpPr/>
          <p:nvPr/>
        </p:nvSpPr>
        <p:spPr>
          <a:xfrm>
            <a:off x="502920" y="987552"/>
            <a:ext cx="11155680" cy="32004"/>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DB3D5D1E-7B0C-EE43-1825-154E3705CF14}"/>
              </a:ext>
            </a:extLst>
          </p:cNvPr>
          <p:cNvSpPr txBox="1"/>
          <p:nvPr/>
        </p:nvSpPr>
        <p:spPr>
          <a:xfrm>
            <a:off x="6446520" y="3192229"/>
            <a:ext cx="2337716" cy="830997"/>
          </a:xfrm>
          <a:prstGeom prst="rect">
            <a:avLst/>
          </a:prstGeom>
          <a:noFill/>
        </p:spPr>
        <p:txBody>
          <a:bodyPr wrap="square" anchor="ctr">
            <a:spAutoFit/>
          </a:bodyPr>
          <a:lstStyle/>
          <a:p>
            <a:pPr algn="l"/>
            <a:r>
              <a:rPr lang="en-ZA" sz="1600" b="1" dirty="0">
                <a:solidFill>
                  <a:srgbClr val="3D271C"/>
                </a:solidFill>
                <a:latin typeface="Aptos"/>
              </a:rPr>
              <a:t>Coffee 89 250</a:t>
            </a:r>
          </a:p>
          <a:p>
            <a:pPr algn="l"/>
            <a:r>
              <a:rPr lang="en-ZA" sz="1600" b="1" dirty="0">
                <a:solidFill>
                  <a:srgbClr val="3D271C"/>
                </a:solidFill>
                <a:latin typeface="Aptos"/>
              </a:rPr>
              <a:t>Tea 69 737</a:t>
            </a:r>
          </a:p>
          <a:p>
            <a:pPr algn="l"/>
            <a:r>
              <a:rPr lang="en-ZA" sz="1600" b="1" dirty="0">
                <a:solidFill>
                  <a:srgbClr val="3D271C"/>
                </a:solidFill>
                <a:latin typeface="Aptos"/>
              </a:rPr>
              <a:t>Bakery 23 214</a:t>
            </a:r>
            <a:endParaRPr sz="1600" b="1" dirty="0">
              <a:solidFill>
                <a:srgbClr val="3D271C"/>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Business Recommendations</a:t>
            </a:r>
          </a:p>
        </p:txBody>
      </p:sp>
      <p:sp>
        <p:nvSpPr>
          <p:cNvPr id="5" name="Rounded Rectangle 4"/>
          <p:cNvSpPr/>
          <p:nvPr/>
        </p:nvSpPr>
        <p:spPr>
          <a:xfrm>
            <a:off x="91439" y="1176792"/>
            <a:ext cx="5515631" cy="1782385"/>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 y="1234440"/>
            <a:ext cx="4069080" cy="365760"/>
          </a:xfrm>
          <a:prstGeom prst="rect">
            <a:avLst/>
          </a:prstGeom>
          <a:noFill/>
        </p:spPr>
        <p:txBody>
          <a:bodyPr wrap="none" anchor="ctr">
            <a:spAutoFit/>
          </a:bodyPr>
          <a:lstStyle/>
          <a:p>
            <a:pPr algn="l"/>
            <a:r>
              <a:rPr sz="1400" b="1" dirty="0">
                <a:solidFill>
                  <a:srgbClr val="3D271C"/>
                </a:solidFill>
                <a:latin typeface="Aptos"/>
              </a:rPr>
              <a:t>Focus on high-performing products</a:t>
            </a:r>
          </a:p>
        </p:txBody>
      </p:sp>
      <p:sp>
        <p:nvSpPr>
          <p:cNvPr id="8" name="TextBox 7"/>
          <p:cNvSpPr txBox="1"/>
          <p:nvPr/>
        </p:nvSpPr>
        <p:spPr>
          <a:xfrm>
            <a:off x="137160" y="1544676"/>
            <a:ext cx="5303520" cy="738664"/>
          </a:xfrm>
          <a:prstGeom prst="rect">
            <a:avLst/>
          </a:prstGeom>
          <a:noFill/>
        </p:spPr>
        <p:txBody>
          <a:bodyPr wrap="square" anchor="t">
            <a:spAutoFit/>
          </a:bodyPr>
          <a:lstStyle/>
          <a:p>
            <a:r>
              <a:rPr lang="en-ZA" sz="1400" dirty="0">
                <a:solidFill>
                  <a:srgbClr val="993300"/>
                </a:solidFill>
              </a:rPr>
              <a:t>Protect top sellers. Monitor coffee and tea stock daily, especially before the morning rush, to reduce missed sales caused by stock shortages.</a:t>
            </a:r>
            <a:endParaRPr sz="1400" b="0" dirty="0">
              <a:solidFill>
                <a:srgbClr val="993300"/>
              </a:solidFill>
              <a:latin typeface="Aptos"/>
            </a:endParaRPr>
          </a:p>
        </p:txBody>
      </p:sp>
      <p:sp>
        <p:nvSpPr>
          <p:cNvPr id="9" name="Rounded Rectangle 8"/>
          <p:cNvSpPr/>
          <p:nvPr/>
        </p:nvSpPr>
        <p:spPr>
          <a:xfrm>
            <a:off x="6217920" y="1111637"/>
            <a:ext cx="5669280" cy="1874073"/>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236898"/>
            <a:ext cx="2493503" cy="307777"/>
          </a:xfrm>
          <a:prstGeom prst="rect">
            <a:avLst/>
          </a:prstGeom>
          <a:noFill/>
        </p:spPr>
        <p:txBody>
          <a:bodyPr wrap="none" anchor="ctr">
            <a:spAutoFit/>
          </a:bodyPr>
          <a:lstStyle/>
          <a:p>
            <a:pPr algn="l"/>
            <a:r>
              <a:rPr sz="1400" b="1" dirty="0">
                <a:solidFill>
                  <a:srgbClr val="3D271C"/>
                </a:solidFill>
                <a:latin typeface="Aptos"/>
              </a:rPr>
              <a:t>Optimize peak sales periods</a:t>
            </a:r>
          </a:p>
        </p:txBody>
      </p:sp>
      <p:sp>
        <p:nvSpPr>
          <p:cNvPr id="12" name="TextBox 11"/>
          <p:cNvSpPr txBox="1"/>
          <p:nvPr/>
        </p:nvSpPr>
        <p:spPr>
          <a:xfrm>
            <a:off x="6196934" y="1480362"/>
            <a:ext cx="5813899" cy="523220"/>
          </a:xfrm>
          <a:prstGeom prst="rect">
            <a:avLst/>
          </a:prstGeom>
          <a:noFill/>
        </p:spPr>
        <p:txBody>
          <a:bodyPr wrap="none" anchor="t">
            <a:spAutoFit/>
          </a:bodyPr>
          <a:lstStyle/>
          <a:p>
            <a:r>
              <a:rPr lang="en-ZA" sz="1400" dirty="0">
                <a:solidFill>
                  <a:srgbClr val="993300"/>
                </a:solidFill>
              </a:rPr>
              <a:t>Schedule more staff during the morning peak and assign clear roles for taking</a:t>
            </a:r>
          </a:p>
          <a:p>
            <a:r>
              <a:rPr lang="en-ZA" sz="1400" dirty="0">
                <a:solidFill>
                  <a:srgbClr val="993300"/>
                </a:solidFill>
              </a:rPr>
              <a:t> orders, preparing drinks and serving customers.</a:t>
            </a:r>
            <a:endParaRPr sz="1400" b="0" dirty="0">
              <a:solidFill>
                <a:srgbClr val="993300"/>
              </a:solidFill>
              <a:latin typeface="Aptos"/>
            </a:endParaRPr>
          </a:p>
        </p:txBody>
      </p:sp>
      <p:sp>
        <p:nvSpPr>
          <p:cNvPr id="13" name="Rounded Rectangle 12"/>
          <p:cNvSpPr/>
          <p:nvPr/>
        </p:nvSpPr>
        <p:spPr>
          <a:xfrm>
            <a:off x="91440" y="3167030"/>
            <a:ext cx="5636300" cy="1898746"/>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4635" y="3157316"/>
            <a:ext cx="4069080" cy="365760"/>
          </a:xfrm>
          <a:prstGeom prst="rect">
            <a:avLst/>
          </a:prstGeom>
          <a:noFill/>
        </p:spPr>
        <p:txBody>
          <a:bodyPr wrap="none" anchor="ctr">
            <a:spAutoFit/>
          </a:bodyPr>
          <a:lstStyle/>
          <a:p>
            <a:pPr algn="l"/>
            <a:r>
              <a:rPr sz="1400" b="1" dirty="0">
                <a:solidFill>
                  <a:srgbClr val="3D271C"/>
                </a:solidFill>
                <a:latin typeface="Aptos"/>
              </a:rPr>
              <a:t>Investigate low performers</a:t>
            </a:r>
          </a:p>
        </p:txBody>
      </p:sp>
      <p:sp>
        <p:nvSpPr>
          <p:cNvPr id="16" name="TextBox 15"/>
          <p:cNvSpPr txBox="1"/>
          <p:nvPr/>
        </p:nvSpPr>
        <p:spPr>
          <a:xfrm>
            <a:off x="174635" y="3459605"/>
            <a:ext cx="5614935" cy="954107"/>
          </a:xfrm>
          <a:prstGeom prst="rect">
            <a:avLst/>
          </a:prstGeom>
          <a:noFill/>
        </p:spPr>
        <p:txBody>
          <a:bodyPr wrap="none" anchor="t">
            <a:spAutoFit/>
          </a:bodyPr>
          <a:lstStyle/>
          <a:p>
            <a:r>
              <a:rPr lang="en-ZA" sz="1400" dirty="0">
                <a:solidFill>
                  <a:srgbClr val="993300"/>
                </a:solidFill>
              </a:rPr>
              <a:t>Review weaker products like Loose Tea and Branded. Check their revenue, </a:t>
            </a:r>
          </a:p>
          <a:p>
            <a:r>
              <a:rPr lang="en-ZA" sz="1400" dirty="0">
                <a:solidFill>
                  <a:srgbClr val="993300"/>
                </a:solidFill>
              </a:rPr>
              <a:t>profit margins, </a:t>
            </a:r>
          </a:p>
          <a:p>
            <a:r>
              <a:rPr lang="en-ZA" sz="1400" dirty="0">
                <a:solidFill>
                  <a:srgbClr val="993300"/>
                </a:solidFill>
              </a:rPr>
              <a:t>stock costs and sales trends before deciding whether to promote,</a:t>
            </a:r>
          </a:p>
          <a:p>
            <a:r>
              <a:rPr lang="en-ZA" sz="1400" dirty="0">
                <a:solidFill>
                  <a:srgbClr val="993300"/>
                </a:solidFill>
              </a:rPr>
              <a:t>adjust or discontinue them.</a:t>
            </a:r>
            <a:endParaRPr sz="1400" b="0" dirty="0">
              <a:solidFill>
                <a:srgbClr val="993300"/>
              </a:solidFill>
              <a:latin typeface="Aptos"/>
            </a:endParaRPr>
          </a:p>
        </p:txBody>
      </p:sp>
      <p:sp>
        <p:nvSpPr>
          <p:cNvPr id="17" name="Rounded Rectangle 16"/>
          <p:cNvSpPr/>
          <p:nvPr/>
        </p:nvSpPr>
        <p:spPr>
          <a:xfrm>
            <a:off x="6196934" y="3289068"/>
            <a:ext cx="5669280" cy="1937435"/>
          </a:xfrm>
          <a:prstGeom prst="roundRect">
            <a:avLst/>
          </a:prstGeom>
          <a:solidFill>
            <a:srgbClr val="FFFDF8"/>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3247388"/>
            <a:ext cx="4069080" cy="365760"/>
          </a:xfrm>
          <a:prstGeom prst="rect">
            <a:avLst/>
          </a:prstGeom>
          <a:noFill/>
        </p:spPr>
        <p:txBody>
          <a:bodyPr wrap="none" anchor="ctr">
            <a:spAutoFit/>
          </a:bodyPr>
          <a:lstStyle/>
          <a:p>
            <a:pPr algn="l"/>
            <a:r>
              <a:rPr sz="1400" b="1" dirty="0">
                <a:solidFill>
                  <a:srgbClr val="3D271C"/>
                </a:solidFill>
                <a:latin typeface="Aptos"/>
              </a:rPr>
              <a:t>Learn from strong stores</a:t>
            </a:r>
          </a:p>
        </p:txBody>
      </p:sp>
      <p:sp>
        <p:nvSpPr>
          <p:cNvPr id="20" name="TextBox 19"/>
          <p:cNvSpPr txBox="1"/>
          <p:nvPr/>
        </p:nvSpPr>
        <p:spPr>
          <a:xfrm>
            <a:off x="6254641" y="3459605"/>
            <a:ext cx="5611573" cy="1384995"/>
          </a:xfrm>
          <a:prstGeom prst="rect">
            <a:avLst/>
          </a:prstGeom>
          <a:noFill/>
        </p:spPr>
        <p:txBody>
          <a:bodyPr wrap="square" anchor="t">
            <a:spAutoFit/>
          </a:bodyPr>
          <a:lstStyle/>
          <a:p>
            <a:pPr algn="l"/>
            <a:r>
              <a:rPr sz="1400" b="0" dirty="0">
                <a:solidFill>
                  <a:srgbClr val="993300"/>
                </a:solidFill>
                <a:latin typeface="Aptos"/>
              </a:rPr>
              <a:t>Investigate </a:t>
            </a:r>
            <a:r>
              <a:rPr lang="en-ZA" sz="1400" b="0" dirty="0">
                <a:solidFill>
                  <a:srgbClr val="993300"/>
                </a:solidFill>
                <a:latin typeface="Aptos"/>
              </a:rPr>
              <a:t>good </a:t>
            </a:r>
            <a:r>
              <a:rPr sz="1400" b="0" dirty="0">
                <a:solidFill>
                  <a:srgbClr val="993300"/>
                </a:solidFill>
                <a:latin typeface="Aptos"/>
              </a:rPr>
              <a:t>practices at the best</a:t>
            </a:r>
            <a:r>
              <a:rPr lang="en-ZA" sz="1400" b="0" dirty="0">
                <a:solidFill>
                  <a:srgbClr val="993300"/>
                </a:solidFill>
                <a:latin typeface="Aptos"/>
              </a:rPr>
              <a:t> </a:t>
            </a:r>
            <a:r>
              <a:rPr sz="1400" b="0" dirty="0">
                <a:solidFill>
                  <a:srgbClr val="993300"/>
                </a:solidFill>
                <a:latin typeface="Aptos"/>
              </a:rPr>
              <a:t>performing location.</a:t>
            </a:r>
            <a:endParaRPr lang="en-ZA" sz="1400" b="0" dirty="0">
              <a:solidFill>
                <a:srgbClr val="993300"/>
              </a:solidFill>
              <a:latin typeface="Aptos"/>
            </a:endParaRPr>
          </a:p>
          <a:p>
            <a:pPr algn="l"/>
            <a:endParaRPr lang="en-ZA" sz="1400" dirty="0">
              <a:solidFill>
                <a:srgbClr val="993300"/>
              </a:solidFill>
              <a:latin typeface="Aptos"/>
            </a:endParaRPr>
          </a:p>
          <a:p>
            <a:r>
              <a:rPr lang="en-ZA" sz="1400" dirty="0">
                <a:solidFill>
                  <a:srgbClr val="993300"/>
                </a:solidFill>
              </a:rPr>
              <a:t>Compare stores fairly by considering operating hours and customer traffic.</a:t>
            </a:r>
          </a:p>
          <a:p>
            <a:endParaRPr lang="en-ZA" sz="1400" dirty="0">
              <a:solidFill>
                <a:srgbClr val="993300"/>
              </a:solidFill>
            </a:endParaRPr>
          </a:p>
          <a:p>
            <a:r>
              <a:rPr lang="en-ZA" sz="1400" dirty="0">
                <a:solidFill>
                  <a:srgbClr val="993300"/>
                </a:solidFill>
              </a:rPr>
              <a:t>Lower revenue alone does not necessarily mean that a store is performing poorly.</a:t>
            </a:r>
            <a:endParaRPr sz="1400" b="0" dirty="0">
              <a:solidFill>
                <a:srgbClr val="993300"/>
              </a:solidFill>
              <a:latin typeface="Aptos"/>
            </a:endParaRPr>
          </a:p>
        </p:txBody>
      </p:sp>
      <p:sp>
        <p:nvSpPr>
          <p:cNvPr id="27" name="Rectangle 26"/>
          <p:cNvSpPr/>
          <p:nvPr/>
        </p:nvSpPr>
        <p:spPr>
          <a:xfrm flipV="1">
            <a:off x="444460" y="852475"/>
            <a:ext cx="11155680" cy="45719"/>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104D9313-1F52-4873-44C8-533102536E80}"/>
              </a:ext>
            </a:extLst>
          </p:cNvPr>
          <p:cNvSpPr txBox="1"/>
          <p:nvPr/>
        </p:nvSpPr>
        <p:spPr>
          <a:xfrm>
            <a:off x="6196934" y="2049637"/>
            <a:ext cx="5669280" cy="954107"/>
          </a:xfrm>
          <a:prstGeom prst="rect">
            <a:avLst/>
          </a:prstGeom>
          <a:noFill/>
        </p:spPr>
        <p:txBody>
          <a:bodyPr wrap="square" anchor="t">
            <a:spAutoFit/>
          </a:bodyPr>
          <a:lstStyle/>
          <a:p>
            <a:r>
              <a:rPr lang="en-ZA" sz="1400" dirty="0">
                <a:solidFill>
                  <a:srgbClr val="993300"/>
                </a:solidFill>
              </a:rPr>
              <a:t>Test a breakfast bundle, such as coffee and a bakery item, during morning hours</a:t>
            </a:r>
          </a:p>
          <a:p>
            <a:endParaRPr lang="en-ZA" sz="1400" dirty="0">
              <a:solidFill>
                <a:srgbClr val="993300"/>
              </a:solidFill>
            </a:endParaRPr>
          </a:p>
          <a:p>
            <a:r>
              <a:rPr lang="en-ZA" sz="1400" dirty="0">
                <a:solidFill>
                  <a:srgbClr val="993300"/>
                </a:solidFill>
              </a:rPr>
              <a:t>Consider a loyalty reward for repeat morning purchases.</a:t>
            </a:r>
            <a:endParaRPr sz="1400" b="0" dirty="0">
              <a:solidFill>
                <a:srgbClr val="993300"/>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28600"/>
            <a:ext cx="10424160" cy="502920"/>
          </a:xfrm>
          <a:prstGeom prst="rect">
            <a:avLst/>
          </a:prstGeom>
          <a:noFill/>
        </p:spPr>
        <p:txBody>
          <a:bodyPr wrap="none" anchor="ctr">
            <a:spAutoFit/>
          </a:bodyPr>
          <a:lstStyle/>
          <a:p>
            <a:pPr algn="l"/>
            <a:r>
              <a:rPr sz="2800" b="1">
                <a:solidFill>
                  <a:srgbClr val="3D271C"/>
                </a:solidFill>
                <a:latin typeface="Aptos"/>
              </a:rPr>
              <a:t>Conclusion</a:t>
            </a:r>
          </a:p>
        </p:txBody>
      </p:sp>
      <p:sp>
        <p:nvSpPr>
          <p:cNvPr id="5" name="Rounded Rectangle 4"/>
          <p:cNvSpPr/>
          <p:nvPr/>
        </p:nvSpPr>
        <p:spPr>
          <a:xfrm>
            <a:off x="549398" y="1371599"/>
            <a:ext cx="10926322" cy="4384623"/>
          </a:xfrm>
          <a:prstGeom prst="roundRect">
            <a:avLst/>
          </a:prstGeom>
          <a:solidFill>
            <a:srgbClr val="F2E7D6"/>
          </a:solidFill>
          <a:ln>
            <a:solidFill>
              <a:srgbClr val="F2E7D6"/>
            </a:solidFill>
          </a:ln>
        </p:spPr>
        <p:style>
          <a:lnRef idx="1">
            <a:schemeClr val="accent1"/>
          </a:lnRef>
          <a:fillRef idx="3">
            <a:schemeClr val="accent1"/>
          </a:fillRef>
          <a:effectRef idx="2">
            <a:schemeClr val="accent1"/>
          </a:effectRef>
          <a:fontRef idx="minor">
            <a:schemeClr val="lt1"/>
          </a:fontRef>
        </p:style>
        <p:txBody>
          <a:bodyPr rtlCol="0" anchor="ctr"/>
          <a:lstStyle/>
          <a:p>
            <a:r>
              <a:rPr lang="en-ZA" dirty="0">
                <a:solidFill>
                  <a:srgbClr val="993300"/>
                </a:solidFill>
              </a:rPr>
              <a:t>Bright Coffee has a clear opportunity to increase revenue by strengthening its best performing product categories, capitalising on peak morning demand, and improving the performance of lower-selling products. The analysis identifies coffee as the leading product category, followed by tea and bakery products, with mornings representing the strongest sales period across all three stores.</a:t>
            </a:r>
          </a:p>
          <a:p>
            <a:endParaRPr lang="en-ZA" dirty="0">
              <a:solidFill>
                <a:srgbClr val="993300"/>
              </a:solidFill>
            </a:endParaRPr>
          </a:p>
          <a:p>
            <a:endParaRPr lang="en-ZA" dirty="0">
              <a:solidFill>
                <a:srgbClr val="993300"/>
              </a:solidFill>
            </a:endParaRPr>
          </a:p>
          <a:p>
            <a:r>
              <a:rPr lang="en-ZA" dirty="0">
                <a:solidFill>
                  <a:srgbClr val="993300"/>
                </a:solidFill>
              </a:rPr>
              <a:t>To support sustainable revenue growth, management should prioritise product availability and efficient staff during peak hours, introduce targeted promotions and product bundles, and use store-level sales data to guide operational decisions. Regular monitoring of revenue, sales volume and profitability will help the business evaluate these initiatives and make data-driven decisions that improve overall performance.</a:t>
            </a:r>
          </a:p>
        </p:txBody>
      </p:sp>
      <p:sp>
        <p:nvSpPr>
          <p:cNvPr id="11" name="Rectangle 10"/>
          <p:cNvSpPr/>
          <p:nvPr/>
        </p:nvSpPr>
        <p:spPr>
          <a:xfrm>
            <a:off x="502920" y="987551"/>
            <a:ext cx="11155680" cy="45719"/>
          </a:xfrm>
          <a:prstGeom prst="rect">
            <a:avLst/>
          </a:prstGeom>
          <a:solidFill>
            <a:srgbClr val="B57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200000">
            <a:off x="11338043" y="6299709"/>
            <a:ext cx="382572" cy="187148"/>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3" name="TextBox 2"/>
          <p:cNvSpPr txBox="1"/>
          <p:nvPr/>
        </p:nvSpPr>
        <p:spPr>
          <a:xfrm>
            <a:off x="1051560" y="218450"/>
            <a:ext cx="1982787" cy="523220"/>
          </a:xfrm>
          <a:prstGeom prst="rect">
            <a:avLst/>
          </a:prstGeom>
          <a:noFill/>
        </p:spPr>
        <p:txBody>
          <a:bodyPr wrap="none" anchor="ctr">
            <a:spAutoFit/>
          </a:bodyPr>
          <a:lstStyle/>
          <a:p>
            <a:pPr algn="l"/>
            <a:r>
              <a:rPr sz="2800" b="1" dirty="0">
                <a:solidFill>
                  <a:srgbClr val="3D271C"/>
                </a:solidFill>
                <a:latin typeface="Aptos"/>
              </a:rPr>
              <a:t>Dashboard</a:t>
            </a:r>
          </a:p>
        </p:txBody>
      </p:sp>
      <p:sp>
        <p:nvSpPr>
          <p:cNvPr id="11" name="Oval 10"/>
          <p:cNvSpPr/>
          <p:nvPr/>
        </p:nvSpPr>
        <p:spPr>
          <a:xfrm rot="1200000">
            <a:off x="11201400" y="6236208"/>
            <a:ext cx="310896" cy="164592"/>
          </a:xfrm>
          <a:prstGeom prst="ellipse">
            <a:avLst/>
          </a:prstGeom>
          <a:solidFill>
            <a:srgbClr val="DEC6A9"/>
          </a:solidFill>
          <a:ln>
            <a:solidFill>
              <a:srgbClr val="896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78914" y="6564115"/>
            <a:ext cx="8678979" cy="246221"/>
          </a:xfrm>
          <a:prstGeom prst="rect">
            <a:avLst/>
          </a:prstGeom>
          <a:noFill/>
        </p:spPr>
        <p:txBody>
          <a:bodyPr wrap="none">
            <a:spAutoFit/>
          </a:bodyPr>
          <a:lstStyle/>
          <a:p>
            <a:pPr algn="r"/>
            <a:r>
              <a:rPr lang="en-ZA" sz="1000" b="1" dirty="0">
                <a:solidFill>
                  <a:srgbClr val="896349"/>
                </a:solidFill>
                <a:latin typeface="Aptos"/>
              </a:rPr>
              <a:t>https://excel.cloud.microsoft/open/onedrive/?docId=EE22442B59469123%21sb8f98056028248a1b252da2bd8d62a35&amp;driveId=EE22442B59469123</a:t>
            </a:r>
            <a:endParaRPr sz="1000" b="1" dirty="0">
              <a:solidFill>
                <a:srgbClr val="896349"/>
              </a:solidFill>
              <a:latin typeface="Aptos"/>
            </a:endParaRPr>
          </a:p>
        </p:txBody>
      </p:sp>
      <p:pic>
        <p:nvPicPr>
          <p:cNvPr id="17" name="Picture 16">
            <a:extLst>
              <a:ext uri="{FF2B5EF4-FFF2-40B4-BE49-F238E27FC236}">
                <a16:creationId xmlns:a16="http://schemas.microsoft.com/office/drawing/2014/main" id="{FD9E11E2-1588-23D0-AF68-A44144B460E6}"/>
              </a:ext>
            </a:extLst>
          </p:cNvPr>
          <p:cNvPicPr>
            <a:picLocks noChangeAspect="1"/>
          </p:cNvPicPr>
          <p:nvPr/>
        </p:nvPicPr>
        <p:blipFill>
          <a:blip r:embed="rId3"/>
          <a:stretch>
            <a:fillRect/>
          </a:stretch>
        </p:blipFill>
        <p:spPr>
          <a:xfrm>
            <a:off x="350029" y="766618"/>
            <a:ext cx="11627112" cy="5682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7197DE-D3CB-6EDF-0BEC-4BF96856EFD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99482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1326</TotalTime>
  <Words>670</Words>
  <Application>Microsoft Office PowerPoint</Application>
  <PresentationFormat>Widescreen</PresentationFormat>
  <Paragraphs>112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Camera Plain Variable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Cyliah Mosesi</dc:creator>
  <cp:keywords/>
  <dc:description>generated using python-pptx</dc:description>
  <cp:lastModifiedBy>Cyliah Mosesi</cp:lastModifiedBy>
  <cp:revision>3</cp:revision>
  <dcterms:created xsi:type="dcterms:W3CDTF">2013-01-27T09:14:16Z</dcterms:created>
  <dcterms:modified xsi:type="dcterms:W3CDTF">2026-10-12T18:11:59Z</dcterms:modified>
  <cp:category/>
</cp:coreProperties>
</file>